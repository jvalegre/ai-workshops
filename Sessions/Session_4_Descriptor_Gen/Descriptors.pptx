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1010" r:id="rId3"/>
    <p:sldId id="1028" r:id="rId4"/>
    <p:sldId id="1027" r:id="rId5"/>
    <p:sldId id="1011" r:id="rId6"/>
    <p:sldId id="1012" r:id="rId7"/>
    <p:sldId id="995" r:id="rId8"/>
    <p:sldId id="259" r:id="rId9"/>
    <p:sldId id="260" r:id="rId10"/>
    <p:sldId id="996" r:id="rId11"/>
    <p:sldId id="262" r:id="rId12"/>
    <p:sldId id="263" r:id="rId13"/>
    <p:sldId id="275" r:id="rId14"/>
    <p:sldId id="997" r:id="rId15"/>
    <p:sldId id="274" r:id="rId16"/>
    <p:sldId id="998" r:id="rId17"/>
    <p:sldId id="999" r:id="rId18"/>
    <p:sldId id="1040" r:id="rId19"/>
    <p:sldId id="1097" r:id="rId20"/>
    <p:sldId id="1098" r:id="rId21"/>
    <p:sldId id="1096" r:id="rId22"/>
    <p:sldId id="1095" r:id="rId23"/>
    <p:sldId id="273" r:id="rId24"/>
    <p:sldId id="785" r:id="rId25"/>
    <p:sldId id="1015" r:id="rId26"/>
    <p:sldId id="985" r:id="rId27"/>
    <p:sldId id="1001" r:id="rId28"/>
    <p:sldId id="978" r:id="rId29"/>
    <p:sldId id="969" r:id="rId30"/>
    <p:sldId id="1051" r:id="rId31"/>
    <p:sldId id="1099" r:id="rId32"/>
    <p:sldId id="1074" r:id="rId33"/>
    <p:sldId id="1075" r:id="rId34"/>
    <p:sldId id="1078" r:id="rId35"/>
    <p:sldId id="925" r:id="rId36"/>
    <p:sldId id="927" r:id="rId37"/>
    <p:sldId id="926" r:id="rId38"/>
    <p:sldId id="1077" r:id="rId39"/>
    <p:sldId id="1089" r:id="rId40"/>
    <p:sldId id="1090" r:id="rId41"/>
    <p:sldId id="1091" r:id="rId42"/>
    <p:sldId id="1092" r:id="rId43"/>
    <p:sldId id="1102" r:id="rId44"/>
    <p:sldId id="1101" r:id="rId45"/>
    <p:sldId id="1103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5FA"/>
    <a:srgbClr val="215F9A"/>
    <a:srgbClr val="FFFFFF"/>
    <a:srgbClr val="555390"/>
    <a:srgbClr val="9FC3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65A56C-0568-4C93-B7B5-495F6A3AF6EF}" v="5" dt="2026-02-24T09:18:12.7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Vicente Alegre Requena" userId="e8de4c96-eb00-49e5-88d2-a751b057886c" providerId="ADAL" clId="{E806CA13-B253-446E-BA11-F69D3DBDFD59}"/>
    <pc:docChg chg="custSel addSld delSld modSld">
      <pc:chgData name="Juan Vicente Alegre Requena" userId="e8de4c96-eb00-49e5-88d2-a751b057886c" providerId="ADAL" clId="{E806CA13-B253-446E-BA11-F69D3DBDFD59}" dt="2026-02-24T09:18:12.705" v="21"/>
      <pc:docMkLst>
        <pc:docMk/>
      </pc:docMkLst>
      <pc:sldChg chg="delSp modSp mod">
        <pc:chgData name="Juan Vicente Alegre Requena" userId="e8de4c96-eb00-49e5-88d2-a751b057886c" providerId="ADAL" clId="{E806CA13-B253-446E-BA11-F69D3DBDFD59}" dt="2026-02-24T08:52:32.375" v="15" actId="478"/>
        <pc:sldMkLst>
          <pc:docMk/>
          <pc:sldMk cId="2610816405" sldId="256"/>
        </pc:sldMkLst>
        <pc:spChg chg="mod">
          <ac:chgData name="Juan Vicente Alegre Requena" userId="e8de4c96-eb00-49e5-88d2-a751b057886c" providerId="ADAL" clId="{E806CA13-B253-446E-BA11-F69D3DBDFD59}" dt="2026-02-24T08:52:25.420" v="13" actId="20577"/>
          <ac:spMkLst>
            <pc:docMk/>
            <pc:sldMk cId="2610816405" sldId="256"/>
            <ac:spMk id="5" creationId="{0157228C-0CF7-471A-6DB4-679BDC043B17}"/>
          </ac:spMkLst>
        </pc:spChg>
        <pc:spChg chg="del">
          <ac:chgData name="Juan Vicente Alegre Requena" userId="e8de4c96-eb00-49e5-88d2-a751b057886c" providerId="ADAL" clId="{E806CA13-B253-446E-BA11-F69D3DBDFD59}" dt="2026-02-24T08:52:32.375" v="15" actId="478"/>
          <ac:spMkLst>
            <pc:docMk/>
            <pc:sldMk cId="2610816405" sldId="256"/>
            <ac:spMk id="8" creationId="{BCE9BEC1-69FF-5811-5C8D-02BA3097F08C}"/>
          </ac:spMkLst>
        </pc:spChg>
        <pc:spChg chg="del">
          <ac:chgData name="Juan Vicente Alegre Requena" userId="e8de4c96-eb00-49e5-88d2-a751b057886c" providerId="ADAL" clId="{E806CA13-B253-446E-BA11-F69D3DBDFD59}" dt="2026-02-24T08:52:29.507" v="14" actId="478"/>
          <ac:spMkLst>
            <pc:docMk/>
            <pc:sldMk cId="2610816405" sldId="256"/>
            <ac:spMk id="10" creationId="{6E629924-DFB7-529D-392A-BBA264469496}"/>
          </ac:spMkLst>
        </pc:spChg>
      </pc:sldChg>
      <pc:sldChg chg="add">
        <pc:chgData name="Juan Vicente Alegre Requena" userId="e8de4c96-eb00-49e5-88d2-a751b057886c" providerId="ADAL" clId="{E806CA13-B253-446E-BA11-F69D3DBDFD59}" dt="2026-02-24T08:59:32.999" v="17"/>
        <pc:sldMkLst>
          <pc:docMk/>
          <pc:sldMk cId="156006819" sldId="273"/>
        </pc:sldMkLst>
      </pc:sldChg>
      <pc:sldChg chg="add">
        <pc:chgData name="Juan Vicente Alegre Requena" userId="e8de4c96-eb00-49e5-88d2-a751b057886c" providerId="ADAL" clId="{E806CA13-B253-446E-BA11-F69D3DBDFD59}" dt="2026-02-24T09:18:12.705" v="21"/>
        <pc:sldMkLst>
          <pc:docMk/>
          <pc:sldMk cId="1432421492" sldId="785"/>
        </pc:sldMkLst>
      </pc:sldChg>
      <pc:sldChg chg="add">
        <pc:chgData name="Juan Vicente Alegre Requena" userId="e8de4c96-eb00-49e5-88d2-a751b057886c" providerId="ADAL" clId="{E806CA13-B253-446E-BA11-F69D3DBDFD59}" dt="2026-02-24T09:03:09.578" v="19"/>
        <pc:sldMkLst>
          <pc:docMk/>
          <pc:sldMk cId="1373328139" sldId="969"/>
        </pc:sldMkLst>
      </pc:sldChg>
      <pc:sldChg chg="add">
        <pc:chgData name="Juan Vicente Alegre Requena" userId="e8de4c96-eb00-49e5-88d2-a751b057886c" providerId="ADAL" clId="{E806CA13-B253-446E-BA11-F69D3DBDFD59}" dt="2026-02-24T09:03:09.578" v="19"/>
        <pc:sldMkLst>
          <pc:docMk/>
          <pc:sldMk cId="2122546300" sldId="978"/>
        </pc:sldMkLst>
      </pc:sldChg>
      <pc:sldChg chg="add">
        <pc:chgData name="Juan Vicente Alegre Requena" userId="e8de4c96-eb00-49e5-88d2-a751b057886c" providerId="ADAL" clId="{E806CA13-B253-446E-BA11-F69D3DBDFD59}" dt="2026-02-24T09:03:09.578" v="19"/>
        <pc:sldMkLst>
          <pc:docMk/>
          <pc:sldMk cId="455243762" sldId="985"/>
        </pc:sldMkLst>
      </pc:sldChg>
      <pc:sldChg chg="add">
        <pc:chgData name="Juan Vicente Alegre Requena" userId="e8de4c96-eb00-49e5-88d2-a751b057886c" providerId="ADAL" clId="{E806CA13-B253-446E-BA11-F69D3DBDFD59}" dt="2026-02-24T09:03:09.578" v="19"/>
        <pc:sldMkLst>
          <pc:docMk/>
          <pc:sldMk cId="639093550" sldId="1001"/>
        </pc:sldMkLst>
      </pc:sldChg>
      <pc:sldChg chg="add">
        <pc:chgData name="Juan Vicente Alegre Requena" userId="e8de4c96-eb00-49e5-88d2-a751b057886c" providerId="ADAL" clId="{E806CA13-B253-446E-BA11-F69D3DBDFD59}" dt="2026-02-24T09:02:47.665" v="18"/>
        <pc:sldMkLst>
          <pc:docMk/>
          <pc:sldMk cId="1210971859" sldId="1015"/>
        </pc:sldMkLst>
      </pc:sldChg>
      <pc:sldChg chg="add">
        <pc:chgData name="Juan Vicente Alegre Requena" userId="e8de4c96-eb00-49e5-88d2-a751b057886c" providerId="ADAL" clId="{E806CA13-B253-446E-BA11-F69D3DBDFD59}" dt="2026-02-24T09:03:19.789" v="20"/>
        <pc:sldMkLst>
          <pc:docMk/>
          <pc:sldMk cId="1108188139" sldId="1051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287693854" sldId="1085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4141992176" sldId="1087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3005960309" sldId="1088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4079443000" sldId="1089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3020623562" sldId="1090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3721478877" sldId="1091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410020025" sldId="1092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1736231909" sldId="1099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3231470977" sldId="1100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1543507886" sldId="1101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1219914431" sldId="1102"/>
        </pc:sldMkLst>
      </pc:sldChg>
      <pc:sldChg chg="del">
        <pc:chgData name="Juan Vicente Alegre Requena" userId="e8de4c96-eb00-49e5-88d2-a751b057886c" providerId="ADAL" clId="{E806CA13-B253-446E-BA11-F69D3DBDFD59}" dt="2026-02-24T08:11:43.162" v="0" actId="47"/>
        <pc:sldMkLst>
          <pc:docMk/>
          <pc:sldMk cId="2488634651" sldId="1103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3933195218" sldId="1104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3208560385" sldId="1105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3417028440" sldId="1106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1072154082" sldId="1107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4274316695" sldId="1108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3375524" sldId="1109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1115002957" sldId="1110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3380184960" sldId="1111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4235132830" sldId="1112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2580435680" sldId="1113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3821143170" sldId="1114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2884475559" sldId="1115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2270146692" sldId="1116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3538625465" sldId="1117"/>
        </pc:sldMkLst>
      </pc:sldChg>
      <pc:sldChg chg="del">
        <pc:chgData name="Juan Vicente Alegre Requena" userId="e8de4c96-eb00-49e5-88d2-a751b057886c" providerId="ADAL" clId="{E806CA13-B253-446E-BA11-F69D3DBDFD59}" dt="2026-02-24T08:11:51.287" v="1" actId="47"/>
        <pc:sldMkLst>
          <pc:docMk/>
          <pc:sldMk cId="2243512860" sldId="1118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643422869" sldId="1119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3985892030" sldId="1120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2350558418" sldId="1122"/>
        </pc:sldMkLst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3429914103" sldId="1123"/>
        </pc:sldMkLst>
      </pc:sldChg>
      <pc:sldChg chg="delSp del mod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3560390176" sldId="1124"/>
        </pc:sldMkLst>
        <pc:spChg chg="del">
          <ac:chgData name="Juan Vicente Alegre Requena" userId="e8de4c96-eb00-49e5-88d2-a751b057886c" providerId="ADAL" clId="{E806CA13-B253-446E-BA11-F69D3DBDFD59}" dt="2026-02-24T08:12:16.464" v="2" actId="478"/>
          <ac:spMkLst>
            <pc:docMk/>
            <pc:sldMk cId="3560390176" sldId="1124"/>
            <ac:spMk id="2" creationId="{555F1ECE-EF70-98EC-F520-7A1B731E2F6B}"/>
          </ac:spMkLst>
        </pc:spChg>
      </pc:sldChg>
      <pc:sldChg chg="del">
        <pc:chgData name="Juan Vicente Alegre Requena" userId="e8de4c96-eb00-49e5-88d2-a751b057886c" providerId="ADAL" clId="{E806CA13-B253-446E-BA11-F69D3DBDFD59}" dt="2026-02-24T08:58:40.714" v="16" actId="47"/>
        <pc:sldMkLst>
          <pc:docMk/>
          <pc:sldMk cId="947015323" sldId="112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91AF5-2077-4BA1-B113-2310F8AFC2A1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682E02-BE67-4161-A544-735639CA5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28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93506-5662-C6F9-47A7-A66F71D96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F7D994-3174-BFF9-38FA-23F27A341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CA335E-AB25-1EE0-4E97-0EFE042B4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59913-4716-D7A6-B40B-D3930897E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981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81710-A080-D5DB-66A1-CEFCFA65C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88451D-106D-9537-1347-040B783C43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E7C10A-1098-8133-6C76-2E68750400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FCC8E-D991-13AF-B631-7C9A79DD6F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051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5B294-0ABC-CF5A-01C0-041D5FB8F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9E5707-A35E-556A-19C5-81CEEB95C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8B51A8-8A81-DD27-F0FE-F0EEC2E1F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1FA34-9484-5E24-A9AA-738E49CDD6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491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93506-5662-C6F9-47A7-A66F71D96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F7D994-3174-BFF9-38FA-23F27A341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CA335E-AB25-1EE0-4E97-0EFE042B4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59913-4716-D7A6-B40B-D3930897E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977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93506-5662-C6F9-47A7-A66F71D96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F7D994-3174-BFF9-38FA-23F27A341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CA335E-AB25-1EE0-4E97-0EFE042B4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559913-4716-D7A6-B40B-D3930897E7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9058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7575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5480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9377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1907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650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063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7706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7826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7573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4229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793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9284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8CD17-5821-D31F-7B9C-A5B4E8BDB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F4D865-DEBE-17C6-36F2-5D0ED0D277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4E6FDF-EC4F-00AC-4A33-DD96D6AEB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18414-642A-0661-E1F2-601030F0A8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4752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DA172-604A-6137-543E-223320F11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1E6773-7164-F80E-572A-FE27B36645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EC1057-8E9D-308F-DEC6-13F4F8A8D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1F019-A27B-39D8-637F-A8D1C6EAC5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4062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FA9EB-1FCB-FE1A-F072-0F1C56F24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786783-5A5D-42D6-2195-9A5F21AC66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F944D9-DB17-69E7-5724-CE7B55522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3929A-D72E-0905-C486-BEA681FDB5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9570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F1295-D62B-62DA-87E1-29E034323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AB29AE-7ECA-F481-0F13-0424DE168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18BBF2-6832-9F04-1BC6-EAEAD29015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D016-7363-E8C8-A275-B5BA72F5A5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682E02-BE67-4161-A544-735639CA5DF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873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EFEDF-4E64-345E-AB62-B3B4C3C39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AF668F-4D49-BEC6-DE7C-3E869E4C38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BBD0C-4663-05EE-0B83-C11FA3EEE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82CCF-237E-83F8-B005-64F5214B5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B476C-6E96-DD45-2402-1F3F7ACBE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897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11E64-873A-F2AD-8994-87C8CBDDB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B7738-D6CD-4FE9-21DC-9002E9438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D65BA-1C07-4CA3-BEA6-DF7BA250C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666A9-47FC-92AC-3D31-81DDD663D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9A462-15CD-C29C-E9C6-B1D956826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595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82848-2DED-2C41-E3E5-3B62EFE91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2583DC-4676-E553-60FF-66EA08892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7E372-058D-562A-84B7-4419FA664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A78AE9-8941-F00C-07BD-FD96501D4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4D62E-2C63-1145-4574-BB2722CBC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64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67F5A-E538-B3CD-CF09-915616686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AA79E-6161-6672-29A8-EC3C973AB5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CFB898-5571-7270-3233-154A5865F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AFF83-BD61-AB1C-8C60-56029E96D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386F6-8EE4-DB9B-D695-2BABE749F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9F7A8-A7F3-7042-C169-CCFFB06EC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695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A9787-421D-742A-F54E-DA803BEAE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6EB2A1-3672-84FD-20EB-D83F5B7E4B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D62D6D-8D88-C374-2F67-ADCB2BB89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88DB75-1F9E-F53E-508C-BCE9B37829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FF1EFE-EC88-4821-35D1-3407704E57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96E025-767D-7906-E6C6-4602AA66F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8C0F4C-CAE9-141D-0786-18FD7A083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2A92E7-DEE4-4A74-892A-04ED10FFE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943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C2D4D-8A8A-D7B1-CBE0-BF7770441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E7319B-B47D-7A08-2F8C-E7EB1E8D0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B6DD35-3499-7039-923A-D0896FECD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948622-66E6-191B-1055-1D41143F7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350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C26E8E-E7BA-8B1D-6E80-B365CF625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B36EBD-6204-65B4-1215-D1E797294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E6FFC-1A90-2A23-9852-B364E8231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08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62233-DCC5-AF65-EE61-9E909FE92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4B15B-37C3-7912-25DA-F47A1729F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1D6F9B-4EA1-435B-6259-16F6C65B4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47394C-4E2C-C28B-E4BE-B68AF5B87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6F3B6-E364-8138-3149-EC0615163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7C2979-B81B-BE1F-F5EC-9891334A1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1687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D6B83-7426-D5F9-9D77-F7FE2A4C1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F69F1C-5711-FEA7-460E-558F05E755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869A31-C776-1CFE-0628-85455C5B2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E505B0-AC3F-D67C-E9F6-8B42B47E7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1662D-3839-D918-F502-456F0294D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D57953-DB77-5DAF-1FDE-2157760FA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077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65EF6-1A03-E077-5421-EA6D01137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8ED6B2-3D95-3D77-E588-3642905EF6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58059-EE05-C8EF-611C-8AE03E9FA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B9D03-F220-8DA1-9752-70D59D896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1C519-9006-853C-9114-A194FB734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29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339F53-5EF9-330F-C790-33D876D14D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B94974-3B66-9295-234A-3017DF34E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107D8-2EC0-DAEF-7FFA-CF9338D42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9E1F9-83F8-4EE8-BA17-07AD29752570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7FBEF-88CE-42B1-779C-F8C8B60D3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89E6F-A31C-7113-4656-B135E3F81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51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819A77-428C-CA5F-A609-10144762B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34FDC-52EE-F578-5882-91F9B0B16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5487C-3F15-30BE-6046-30E72900DA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9E1F9-83F8-4EE8-BA17-07AD29752570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3C16A-EE89-EC75-5A37-DF77F16FD8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BF1131-F98E-F9B3-BCB0-6E3FE79C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062AA-2C6C-4571-9892-9B3657580B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821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tif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9.jpe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9.jpe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9.jpe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9.jpe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image" Target="../media/image1.png"/><Relationship Id="rId7" Type="http://schemas.openxmlformats.org/officeDocument/2006/relationships/oleObject" Target="../embeddings/oleObject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image" Target="../media/image1.png"/><Relationship Id="rId7" Type="http://schemas.openxmlformats.org/officeDocument/2006/relationships/oleObject" Target="../embeddings/oleObject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2.jpeg"/><Relationship Id="rId4" Type="http://schemas.openxmlformats.org/officeDocument/2006/relationships/image" Target="../media/image1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emf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.jpeg"/><Relationship Id="rId10" Type="http://schemas.openxmlformats.org/officeDocument/2006/relationships/image" Target="../media/image27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tif"/><Relationship Id="rId4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eg"/><Relationship Id="rId5" Type="http://schemas.openxmlformats.org/officeDocument/2006/relationships/image" Target="../media/image31.tif"/><Relationship Id="rId4" Type="http://schemas.openxmlformats.org/officeDocument/2006/relationships/image" Target="../media/image2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emf"/><Relationship Id="rId4" Type="http://schemas.openxmlformats.org/officeDocument/2006/relationships/image" Target="../media/image2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emf"/><Relationship Id="rId4" Type="http://schemas.openxmlformats.org/officeDocument/2006/relationships/image" Target="../media/image39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emf"/><Relationship Id="rId4" Type="http://schemas.openxmlformats.org/officeDocument/2006/relationships/image" Target="../media/image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emf"/><Relationship Id="rId4" Type="http://schemas.openxmlformats.org/officeDocument/2006/relationships/image" Target="../media/image4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emf"/><Relationship Id="rId5" Type="http://schemas.openxmlformats.org/officeDocument/2006/relationships/image" Target="../media/image43.png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jpeg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emf"/><Relationship Id="rId4" Type="http://schemas.openxmlformats.org/officeDocument/2006/relationships/image" Target="../media/image2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emf"/><Relationship Id="rId4" Type="http://schemas.openxmlformats.org/officeDocument/2006/relationships/image" Target="../media/image2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emf"/><Relationship Id="rId4" Type="http://schemas.openxmlformats.org/officeDocument/2006/relationships/image" Target="../media/image48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emf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25FF854-1024-C381-AEE0-126931EE5150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157228C-0CF7-471A-6DB4-679BDC043B17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AI workshop</a:t>
            </a:r>
            <a:endParaRPr lang="en-US" sz="3600" baseline="300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5B4A076C-4020-499F-F6D5-05042578C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3A1941D-2C73-70D5-34E3-9CB427DCE40F}"/>
              </a:ext>
            </a:extLst>
          </p:cNvPr>
          <p:cNvSpPr txBox="1">
            <a:spLocks/>
          </p:cNvSpPr>
          <p:nvPr/>
        </p:nvSpPr>
        <p:spPr>
          <a:xfrm>
            <a:off x="951845" y="2609946"/>
            <a:ext cx="10257479" cy="1415772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pPr algn="ctr"/>
            <a:r>
              <a:rPr lang="en-US" sz="4000" b="1" dirty="0">
                <a:solidFill>
                  <a:schemeClr val="tx1">
                    <a:lumMod val="50000"/>
                  </a:schemeClr>
                </a:solidFill>
              </a:rPr>
              <a:t>Basics of Chemical Machine Learning, AQME and Descriptor Generation</a:t>
            </a:r>
          </a:p>
        </p:txBody>
      </p:sp>
      <p:pic>
        <p:nvPicPr>
          <p:cNvPr id="3" name="Picture 2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10F39FD7-3E82-0F6A-4ACC-8A28505E8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0549F3C-C0D0-9DF9-94A6-955F875E2663}"/>
              </a:ext>
            </a:extLst>
          </p:cNvPr>
          <p:cNvSpPr/>
          <p:nvPr/>
        </p:nvSpPr>
        <p:spPr>
          <a:xfrm>
            <a:off x="0" y="5741171"/>
            <a:ext cx="12192000" cy="1168979"/>
          </a:xfrm>
          <a:prstGeom prst="rect">
            <a:avLst/>
          </a:prstGeom>
          <a:solidFill>
            <a:srgbClr val="9FC3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816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5214C-7135-637A-CB7B-94352252D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C6B43B-5408-6DBA-DECB-5A050957B616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F2C7212B-A017-AA7A-3227-4EB7787989D4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n-US" sz="3600" dirty="0"/>
              <a:t>The AI “hype”</a:t>
            </a: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9BE8EC7B-FDA2-E322-CA73-E731357D3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7AC26980-2349-4628-6944-0F79AE6DB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2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1E8AF56D-A8CF-E096-8F1F-94000C0DC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81E7F3-AF3B-5D28-AC5B-C4548D2266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2915" y="1871108"/>
            <a:ext cx="8183880" cy="359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680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CB86F-059B-6BE7-C7FF-B714A2CE4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DAFD5E7-200C-E887-4E75-B4EE726AE22F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3EAF58E-1DA3-CB15-B33F-42642624EA5F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n-US" sz="3600" dirty="0"/>
              <a:t>The AI “hype”</a:t>
            </a: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9503A0EF-D536-34D5-B853-7399111A3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A780EAC9-98BE-E8D8-F814-F282B21F3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3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A9EF8A02-CB3F-DB1C-FDDC-E38F77CDD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57F933-3F3D-8DD1-CFC4-BB1933756E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2915" y="1871108"/>
            <a:ext cx="8183880" cy="35957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F75AAE-489D-41E3-158C-5FF79BB548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8319" y="1877750"/>
            <a:ext cx="8073071" cy="356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696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F4E2B-6D49-EF90-FD1F-30D8E0589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25129E2E-0262-EE2F-67AB-49A5611A3F6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477"/>
          <a:stretch/>
        </p:blipFill>
        <p:spPr>
          <a:xfrm>
            <a:off x="405180" y="1209534"/>
            <a:ext cx="7993018" cy="539496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A528CCC-E87D-1620-E3BC-2933E60B55E6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B699AB3C-203E-DB0C-AE35-E5EB4B4F64BA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n-US" sz="3600" dirty="0"/>
              <a:t>The AI “hype”</a:t>
            </a: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5B079D49-725E-D58B-280C-E7D9D7AE08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BCA1C7F6-33C5-B684-80E7-437024132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4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28A2C2BD-10A9-F012-87B3-44A207270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71EFF2-4521-F986-F30D-F4B50D4DB99E}"/>
              </a:ext>
            </a:extLst>
          </p:cNvPr>
          <p:cNvSpPr txBox="1"/>
          <p:nvPr/>
        </p:nvSpPr>
        <p:spPr>
          <a:xfrm>
            <a:off x="8670302" y="6142442"/>
            <a:ext cx="3002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Stanford AI Index Report 2024</a:t>
            </a:r>
          </a:p>
        </p:txBody>
      </p:sp>
    </p:spTree>
    <p:extLst>
      <p:ext uri="{BB962C8B-B14F-4D97-AF65-F5344CB8AC3E}">
        <p14:creationId xmlns:p14="http://schemas.microsoft.com/office/powerpoint/2010/main" val="610534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5214C-7135-637A-CB7B-94352252D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9F3F9F73-AF00-E4D2-7F98-6B36E1CB6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180" y="1209534"/>
            <a:ext cx="11333988" cy="539496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C6B43B-5408-6DBA-DECB-5A050957B616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F2C7212B-A017-AA7A-3227-4EB7787989D4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n-US" sz="3600" dirty="0"/>
              <a:t>The AI “hype”</a:t>
            </a: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9BE8EC7B-FDA2-E322-CA73-E731357D3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7AC26980-2349-4628-6944-0F79AE6DB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5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1E8AF56D-A8CF-E096-8F1F-94000C0DC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E8B309-8E76-BBF0-1F9F-F252EE8BB327}"/>
              </a:ext>
            </a:extLst>
          </p:cNvPr>
          <p:cNvSpPr txBox="1"/>
          <p:nvPr/>
        </p:nvSpPr>
        <p:spPr>
          <a:xfrm>
            <a:off x="8670302" y="6142442"/>
            <a:ext cx="3002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Stanford AI Index Report 2024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02777BA-7BBF-4B93-B26B-29BECEAAE47F}"/>
              </a:ext>
            </a:extLst>
          </p:cNvPr>
          <p:cNvGrpSpPr/>
          <p:nvPr/>
        </p:nvGrpSpPr>
        <p:grpSpPr>
          <a:xfrm>
            <a:off x="10765348" y="5267927"/>
            <a:ext cx="526106" cy="511088"/>
            <a:chOff x="10758260" y="5267927"/>
            <a:chExt cx="526106" cy="511088"/>
          </a:xfrm>
        </p:grpSpPr>
        <p:pic>
          <p:nvPicPr>
            <p:cNvPr id="2058" name="Picture 10" descr="Flag of Spain - Wikipedia">
              <a:extLst>
                <a:ext uri="{FF2B5EF4-FFF2-40B4-BE49-F238E27FC236}">
                  <a16:creationId xmlns:a16="http://schemas.microsoft.com/office/drawing/2014/main" id="{F60632F7-D547-4558-5725-8A31838D47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55491" y="5267927"/>
              <a:ext cx="332064" cy="2213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2154EC7-3389-9525-E7F2-4E3BE8214BF2}"/>
                </a:ext>
              </a:extLst>
            </p:cNvPr>
            <p:cNvSpPr txBox="1"/>
            <p:nvPr/>
          </p:nvSpPr>
          <p:spPr>
            <a:xfrm>
              <a:off x="10758260" y="5455850"/>
              <a:ext cx="52610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/>
                <a:t>0.36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B72C9B4-D496-7D4A-9C02-2FB3DDD7A617}"/>
              </a:ext>
            </a:extLst>
          </p:cNvPr>
          <p:cNvSpPr txBox="1"/>
          <p:nvPr/>
        </p:nvSpPr>
        <p:spPr>
          <a:xfrm>
            <a:off x="10773490" y="5041976"/>
            <a:ext cx="4956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Spain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614225-C8C7-398B-740A-A6D2B90A3CFF}"/>
              </a:ext>
            </a:extLst>
          </p:cNvPr>
          <p:cNvSpPr txBox="1"/>
          <p:nvPr/>
        </p:nvSpPr>
        <p:spPr>
          <a:xfrm>
            <a:off x="9039828" y="5386599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A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. . </a:t>
            </a:r>
          </a:p>
        </p:txBody>
      </p:sp>
    </p:spTree>
    <p:extLst>
      <p:ext uri="{BB962C8B-B14F-4D97-AF65-F5344CB8AC3E}">
        <p14:creationId xmlns:p14="http://schemas.microsoft.com/office/powerpoint/2010/main" val="3855445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5214C-7135-637A-CB7B-94352252D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9F3F9F73-AF00-E4D2-7F98-6B36E1CB6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180" y="1209534"/>
            <a:ext cx="11333988" cy="539496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C6B43B-5408-6DBA-DECB-5A050957B616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F2C7212B-A017-AA7A-3227-4EB7787989D4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n-US" sz="3600" dirty="0"/>
              <a:t>The AI “hype”</a:t>
            </a:r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9BE8EC7B-FDA2-E322-CA73-E731357D3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7AC26980-2349-4628-6944-0F79AE6DB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6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1E8AF56D-A8CF-E096-8F1F-94000C0DC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E8B309-8E76-BBF0-1F9F-F252EE8BB327}"/>
              </a:ext>
            </a:extLst>
          </p:cNvPr>
          <p:cNvSpPr txBox="1"/>
          <p:nvPr/>
        </p:nvSpPr>
        <p:spPr>
          <a:xfrm>
            <a:off x="8670302" y="6142442"/>
            <a:ext cx="3002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Stanford AI Index Report 2024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02777BA-7BBF-4B93-B26B-29BECEAAE47F}"/>
              </a:ext>
            </a:extLst>
          </p:cNvPr>
          <p:cNvGrpSpPr/>
          <p:nvPr/>
        </p:nvGrpSpPr>
        <p:grpSpPr>
          <a:xfrm>
            <a:off x="10765348" y="5267927"/>
            <a:ext cx="526106" cy="511088"/>
            <a:chOff x="10758260" y="5267927"/>
            <a:chExt cx="526106" cy="511088"/>
          </a:xfrm>
        </p:grpSpPr>
        <p:pic>
          <p:nvPicPr>
            <p:cNvPr id="2058" name="Picture 10" descr="Flag of Spain - Wikipedia">
              <a:extLst>
                <a:ext uri="{FF2B5EF4-FFF2-40B4-BE49-F238E27FC236}">
                  <a16:creationId xmlns:a16="http://schemas.microsoft.com/office/drawing/2014/main" id="{F60632F7-D547-4558-5725-8A31838D47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855491" y="5267927"/>
              <a:ext cx="332064" cy="2213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2154EC7-3389-9525-E7F2-4E3BE8214BF2}"/>
                </a:ext>
              </a:extLst>
            </p:cNvPr>
            <p:cNvSpPr txBox="1"/>
            <p:nvPr/>
          </p:nvSpPr>
          <p:spPr>
            <a:xfrm>
              <a:off x="10758260" y="5455850"/>
              <a:ext cx="52610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/>
                <a:t>0.36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B72C9B4-D496-7D4A-9C02-2FB3DDD7A617}"/>
              </a:ext>
            </a:extLst>
          </p:cNvPr>
          <p:cNvSpPr txBox="1"/>
          <p:nvPr/>
        </p:nvSpPr>
        <p:spPr>
          <a:xfrm>
            <a:off x="10773490" y="5041976"/>
            <a:ext cx="4956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Spain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570179-8AAA-E5FB-ECA3-7C51C2B50041}"/>
              </a:ext>
            </a:extLst>
          </p:cNvPr>
          <p:cNvSpPr txBox="1"/>
          <p:nvPr/>
        </p:nvSpPr>
        <p:spPr>
          <a:xfrm>
            <a:off x="9039828" y="5386599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A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. . 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14E023-22F8-85E5-F724-F56F9DC5E161}"/>
              </a:ext>
            </a:extLst>
          </p:cNvPr>
          <p:cNvSpPr/>
          <p:nvPr/>
        </p:nvSpPr>
        <p:spPr>
          <a:xfrm>
            <a:off x="4736386" y="2794570"/>
            <a:ext cx="6967035" cy="1664413"/>
          </a:xfrm>
          <a:prstGeom prst="rect">
            <a:avLst/>
          </a:prstGeom>
          <a:solidFill>
            <a:schemeClr val="bg1"/>
          </a:solidFill>
          <a:ln w="28575">
            <a:solidFill>
              <a:srgbClr val="5553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573E1F5-250A-7EDF-7566-9BEE392BAE5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012" t="-1" r="1317" b="7910"/>
          <a:stretch/>
        </p:blipFill>
        <p:spPr>
          <a:xfrm>
            <a:off x="5136930" y="2981722"/>
            <a:ext cx="3386954" cy="62424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11292EB-2FFF-D1EE-2356-D2CB6B34996C}"/>
              </a:ext>
            </a:extLst>
          </p:cNvPr>
          <p:cNvSpPr txBox="1"/>
          <p:nvPr/>
        </p:nvSpPr>
        <p:spPr>
          <a:xfrm>
            <a:off x="5142765" y="3703788"/>
            <a:ext cx="3375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Consolidación</a:t>
            </a:r>
            <a:r>
              <a:rPr lang="en-US" b="1" dirty="0"/>
              <a:t> </a:t>
            </a:r>
            <a:r>
              <a:rPr lang="en-US" b="1" dirty="0" err="1"/>
              <a:t>Investigadora</a:t>
            </a:r>
            <a:r>
              <a:rPr lang="en-US" b="1" dirty="0"/>
              <a:t> 2023</a:t>
            </a:r>
          </a:p>
          <a:p>
            <a:pPr algn="ctr"/>
            <a:r>
              <a:rPr lang="en-US" dirty="0"/>
              <a:t>200K or 400K (if AI was included)</a:t>
            </a: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EF90CC02-A48B-AD92-82C8-C57B8008D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1836" y="3085225"/>
            <a:ext cx="1926135" cy="471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39BB350-9280-8822-F411-8E5BD5C4479A}"/>
              </a:ext>
            </a:extLst>
          </p:cNvPr>
          <p:cNvSpPr txBox="1"/>
          <p:nvPr/>
        </p:nvSpPr>
        <p:spPr>
          <a:xfrm>
            <a:off x="8933226" y="3703787"/>
            <a:ext cx="25439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Momentum 2024</a:t>
            </a:r>
          </a:p>
          <a:p>
            <a:pPr algn="ctr"/>
            <a:r>
              <a:rPr lang="en-US" dirty="0"/>
              <a:t>2 contracts (AI or digital.)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42B2A2A-C385-8016-FC08-4676798E1F40}"/>
              </a:ext>
            </a:extLst>
          </p:cNvPr>
          <p:cNvCxnSpPr>
            <a:cxnSpLocks/>
          </p:cNvCxnSpPr>
          <p:nvPr/>
        </p:nvCxnSpPr>
        <p:spPr>
          <a:xfrm flipV="1">
            <a:off x="10983074" y="4458983"/>
            <a:ext cx="0" cy="582993"/>
          </a:xfrm>
          <a:prstGeom prst="line">
            <a:avLst/>
          </a:prstGeom>
          <a:ln w="28575">
            <a:solidFill>
              <a:srgbClr val="5553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6807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C450981-F33E-B84A-F9B7-E6DC8BDFCBC5}"/>
              </a:ext>
            </a:extLst>
          </p:cNvPr>
          <p:cNvSpPr txBox="1"/>
          <p:nvPr/>
        </p:nvSpPr>
        <p:spPr>
          <a:xfrm>
            <a:off x="2156386" y="2875485"/>
            <a:ext cx="37761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“</a:t>
            </a:r>
            <a:r>
              <a:rPr lang="en-US" i="1" dirty="0"/>
              <a:t>In a village in la Mancha, whose name I do not care to remember, an hidalgo lived not long ago, one of those who keeps a lance on the rack, an old leather shield, skinny nag..</a:t>
            </a:r>
            <a:r>
              <a:rPr lang="es-ES" i="1" dirty="0"/>
              <a:t>.”</a:t>
            </a:r>
            <a:endParaRPr lang="en-US" i="1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47D84035-6244-DA9A-CE95-760BD8BF060E}"/>
              </a:ext>
            </a:extLst>
          </p:cNvPr>
          <p:cNvSpPr>
            <a:spLocks/>
          </p:cNvSpPr>
          <p:nvPr/>
        </p:nvSpPr>
        <p:spPr bwMode="auto">
          <a:xfrm>
            <a:off x="355336" y="1443489"/>
            <a:ext cx="45103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How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does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machine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learning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work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536E5-7EB5-46E0-3578-57928A88B8DB}"/>
              </a:ext>
            </a:extLst>
          </p:cNvPr>
          <p:cNvSpPr txBox="1"/>
          <p:nvPr/>
        </p:nvSpPr>
        <p:spPr>
          <a:xfrm>
            <a:off x="355337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F193C7-E3E3-3527-44F4-D13960AC882A}"/>
              </a:ext>
            </a:extLst>
          </p:cNvPr>
          <p:cNvSpPr txBox="1"/>
          <p:nvPr/>
        </p:nvSpPr>
        <p:spPr>
          <a:xfrm>
            <a:off x="-254430" y="6439764"/>
            <a:ext cx="53563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dirty="0">
                <a:latin typeface="Gill Sans"/>
              </a:rPr>
              <a:t>ChatGPT, personal communication, February 11, 2023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234D252-8AAE-3B0D-5319-9E94223C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7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3EAF1146-72E4-3179-FD5B-72A28B066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ooks Icon PSD - Graphicsfuel">
            <a:extLst>
              <a:ext uri="{FF2B5EF4-FFF2-40B4-BE49-F238E27FC236}">
                <a16:creationId xmlns:a16="http://schemas.microsoft.com/office/drawing/2014/main" id="{2C52B5C0-1785-76EA-BB1A-3C017FEEC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733" y="4741246"/>
            <a:ext cx="1230256" cy="1230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92B82E-C2F5-F171-541F-9FB71C646182}"/>
              </a:ext>
            </a:extLst>
          </p:cNvPr>
          <p:cNvSpPr/>
          <p:nvPr/>
        </p:nvSpPr>
        <p:spPr>
          <a:xfrm>
            <a:off x="355336" y="2739733"/>
            <a:ext cx="5740663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ChatGPT: El futuro de la redacción y su significado para los escritores -  Marketing DigitalMarketing Digital">
            <a:extLst>
              <a:ext uri="{FF2B5EF4-FFF2-40B4-BE49-F238E27FC236}">
                <a16:creationId xmlns:a16="http://schemas.microsoft.com/office/drawing/2014/main" id="{4027B0EA-0618-992C-C0F3-97DE2D25E2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94" t="5713" r="20830" b="8513"/>
          <a:stretch/>
        </p:blipFill>
        <p:spPr bwMode="auto">
          <a:xfrm>
            <a:off x="555885" y="3026475"/>
            <a:ext cx="1222409" cy="113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AEABC9E-99FC-616B-617C-2C6557ACF520}"/>
              </a:ext>
            </a:extLst>
          </p:cNvPr>
          <p:cNvSpPr/>
          <p:nvPr/>
        </p:nvSpPr>
        <p:spPr>
          <a:xfrm>
            <a:off x="1992430" y="2959100"/>
            <a:ext cx="100654" cy="12663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0E824E-C573-E14C-AD8C-098C8D75FDE3}"/>
              </a:ext>
            </a:extLst>
          </p:cNvPr>
          <p:cNvSpPr/>
          <p:nvPr/>
        </p:nvSpPr>
        <p:spPr>
          <a:xfrm>
            <a:off x="2000614" y="4549750"/>
            <a:ext cx="100654" cy="1597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314AC9-29DA-971F-A7A1-0283CAC25DA7}"/>
              </a:ext>
            </a:extLst>
          </p:cNvPr>
          <p:cNvSpPr txBox="1"/>
          <p:nvPr/>
        </p:nvSpPr>
        <p:spPr>
          <a:xfrm>
            <a:off x="2180743" y="4447310"/>
            <a:ext cx="37761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“</a:t>
            </a:r>
            <a:r>
              <a:rPr lang="en-US" i="1" dirty="0"/>
              <a:t>To be, or not to be: that is the question: Whether 'tis nobler in the mind to suffer the slings and arrows of outrageous fortune, or to take arms against a sea of troubles, and by opposing end them? To die: to sleep…</a:t>
            </a:r>
            <a:endParaRPr lang="es-ES" i="1" dirty="0"/>
          </a:p>
        </p:txBody>
      </p:sp>
    </p:spTree>
    <p:extLst>
      <p:ext uri="{BB962C8B-B14F-4D97-AF65-F5344CB8AC3E}">
        <p14:creationId xmlns:p14="http://schemas.microsoft.com/office/powerpoint/2010/main" val="593826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C450981-F33E-B84A-F9B7-E6DC8BDFCBC5}"/>
              </a:ext>
            </a:extLst>
          </p:cNvPr>
          <p:cNvSpPr txBox="1"/>
          <p:nvPr/>
        </p:nvSpPr>
        <p:spPr>
          <a:xfrm>
            <a:off x="2156386" y="2875485"/>
            <a:ext cx="37761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“</a:t>
            </a:r>
            <a:r>
              <a:rPr lang="en-US" i="1" dirty="0"/>
              <a:t>In a village in la Mancha, whose name I do not care to remember, an hidalgo lived not long ago, one of those who keeps a lance on the rack, an old leather shield, skinny nag..</a:t>
            </a:r>
            <a:r>
              <a:rPr lang="es-ES" i="1" dirty="0"/>
              <a:t>.”</a:t>
            </a:r>
            <a:endParaRPr lang="en-US" i="1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47D84035-6244-DA9A-CE95-760BD8BF060E}"/>
              </a:ext>
            </a:extLst>
          </p:cNvPr>
          <p:cNvSpPr>
            <a:spLocks/>
          </p:cNvSpPr>
          <p:nvPr/>
        </p:nvSpPr>
        <p:spPr bwMode="auto">
          <a:xfrm>
            <a:off x="355336" y="1443489"/>
            <a:ext cx="45103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How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does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machine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learning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work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536E5-7EB5-46E0-3578-57928A88B8DB}"/>
              </a:ext>
            </a:extLst>
          </p:cNvPr>
          <p:cNvSpPr txBox="1"/>
          <p:nvPr/>
        </p:nvSpPr>
        <p:spPr>
          <a:xfrm>
            <a:off x="355337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F193C7-E3E3-3527-44F4-D13960AC882A}"/>
              </a:ext>
            </a:extLst>
          </p:cNvPr>
          <p:cNvSpPr txBox="1"/>
          <p:nvPr/>
        </p:nvSpPr>
        <p:spPr>
          <a:xfrm>
            <a:off x="-254430" y="6439764"/>
            <a:ext cx="53563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dirty="0">
                <a:latin typeface="Gill Sans"/>
              </a:rPr>
              <a:t>ChatGPT, personal communication, February 11, 2023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234D252-8AAE-3B0D-5319-9E94223C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8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3EAF1146-72E4-3179-FD5B-72A28B066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ooks Icon PSD - Graphicsfuel">
            <a:extLst>
              <a:ext uri="{FF2B5EF4-FFF2-40B4-BE49-F238E27FC236}">
                <a16:creationId xmlns:a16="http://schemas.microsoft.com/office/drawing/2014/main" id="{2C52B5C0-1785-76EA-BB1A-3C017FEEC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733" y="4741246"/>
            <a:ext cx="1230256" cy="1230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92B82E-C2F5-F171-541F-9FB71C646182}"/>
              </a:ext>
            </a:extLst>
          </p:cNvPr>
          <p:cNvSpPr/>
          <p:nvPr/>
        </p:nvSpPr>
        <p:spPr>
          <a:xfrm>
            <a:off x="355336" y="2739733"/>
            <a:ext cx="5740663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E65F28-CC0C-B436-0AD6-18B7BE996935}"/>
              </a:ext>
            </a:extLst>
          </p:cNvPr>
          <p:cNvSpPr/>
          <p:nvPr/>
        </p:nvSpPr>
        <p:spPr>
          <a:xfrm>
            <a:off x="6266850" y="3968479"/>
            <a:ext cx="1177953" cy="1255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Machine Learning Icon - Free PNG &amp; SVG 2010152 - Noun Project">
            <a:extLst>
              <a:ext uri="{FF2B5EF4-FFF2-40B4-BE49-F238E27FC236}">
                <a16:creationId xmlns:a16="http://schemas.microsoft.com/office/drawing/2014/main" id="{65AA4A83-A9FE-5A2B-0453-C1FEB9E7C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275" y="3968479"/>
            <a:ext cx="1109101" cy="110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77A527C8-2B29-9EB0-E44F-6D6C3F5F4AF3}"/>
              </a:ext>
            </a:extLst>
          </p:cNvPr>
          <p:cNvSpPr/>
          <p:nvPr/>
        </p:nvSpPr>
        <p:spPr>
          <a:xfrm>
            <a:off x="7444800" y="4208705"/>
            <a:ext cx="692759" cy="62865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3520EB-1AA3-8F68-9A91-B46887846259}"/>
              </a:ext>
            </a:extLst>
          </p:cNvPr>
          <p:cNvSpPr/>
          <p:nvPr/>
        </p:nvSpPr>
        <p:spPr>
          <a:xfrm>
            <a:off x="5459381" y="4367529"/>
            <a:ext cx="807467" cy="3098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ChatGPT: El futuro de la redacción y su significado para los escritores -  Marketing DigitalMarketing Digital">
            <a:extLst>
              <a:ext uri="{FF2B5EF4-FFF2-40B4-BE49-F238E27FC236}">
                <a16:creationId xmlns:a16="http://schemas.microsoft.com/office/drawing/2014/main" id="{4027B0EA-0618-992C-C0F3-97DE2D25E2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94" t="5713" r="20830" b="8513"/>
          <a:stretch/>
        </p:blipFill>
        <p:spPr bwMode="auto">
          <a:xfrm>
            <a:off x="555885" y="3026475"/>
            <a:ext cx="1222409" cy="113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AEABC9E-99FC-616B-617C-2C6557ACF520}"/>
              </a:ext>
            </a:extLst>
          </p:cNvPr>
          <p:cNvSpPr/>
          <p:nvPr/>
        </p:nvSpPr>
        <p:spPr>
          <a:xfrm>
            <a:off x="1992430" y="2959100"/>
            <a:ext cx="100654" cy="12663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0E824E-C573-E14C-AD8C-098C8D75FDE3}"/>
              </a:ext>
            </a:extLst>
          </p:cNvPr>
          <p:cNvSpPr/>
          <p:nvPr/>
        </p:nvSpPr>
        <p:spPr>
          <a:xfrm>
            <a:off x="2000614" y="4549750"/>
            <a:ext cx="100654" cy="1597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314AC9-29DA-971F-A7A1-0283CAC25DA7}"/>
              </a:ext>
            </a:extLst>
          </p:cNvPr>
          <p:cNvSpPr txBox="1"/>
          <p:nvPr/>
        </p:nvSpPr>
        <p:spPr>
          <a:xfrm>
            <a:off x="2180743" y="4447310"/>
            <a:ext cx="37761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“</a:t>
            </a:r>
            <a:r>
              <a:rPr lang="en-US" i="1" dirty="0"/>
              <a:t>To be, or not to be: that is the question: Whether 'tis nobler in the mind to suffer the slings and arrows of outrageous fortune, or to take arms against a sea of troubles, and by opposing end them? To die: to sleep…</a:t>
            </a:r>
            <a:endParaRPr lang="es-ES" i="1" dirty="0"/>
          </a:p>
        </p:txBody>
      </p:sp>
    </p:spTree>
    <p:extLst>
      <p:ext uri="{BB962C8B-B14F-4D97-AF65-F5344CB8AC3E}">
        <p14:creationId xmlns:p14="http://schemas.microsoft.com/office/powerpoint/2010/main" val="245372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C450981-F33E-B84A-F9B7-E6DC8BDFCBC5}"/>
              </a:ext>
            </a:extLst>
          </p:cNvPr>
          <p:cNvSpPr txBox="1"/>
          <p:nvPr/>
        </p:nvSpPr>
        <p:spPr>
          <a:xfrm>
            <a:off x="2156386" y="2875485"/>
            <a:ext cx="37761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“</a:t>
            </a:r>
            <a:r>
              <a:rPr lang="en-US" i="1" dirty="0"/>
              <a:t>In a village in la Mancha, whose name I do not care to remember, an hidalgo lived not long ago, one of those who keeps a lance on the rack, an old leather shield, skinny nag..</a:t>
            </a:r>
            <a:r>
              <a:rPr lang="es-ES" i="1" dirty="0"/>
              <a:t>.”</a:t>
            </a:r>
            <a:endParaRPr lang="en-US" i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F0AD40-1901-30CF-6C02-A9868189F21D}"/>
              </a:ext>
            </a:extLst>
          </p:cNvPr>
          <p:cNvSpPr/>
          <p:nvPr/>
        </p:nvSpPr>
        <p:spPr>
          <a:xfrm>
            <a:off x="7615654" y="2739733"/>
            <a:ext cx="4221009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47D84035-6244-DA9A-CE95-760BD8BF060E}"/>
              </a:ext>
            </a:extLst>
          </p:cNvPr>
          <p:cNvSpPr>
            <a:spLocks/>
          </p:cNvSpPr>
          <p:nvPr/>
        </p:nvSpPr>
        <p:spPr bwMode="auto">
          <a:xfrm>
            <a:off x="355336" y="1443489"/>
            <a:ext cx="45103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How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does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machine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learning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work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536E5-7EB5-46E0-3578-57928A88B8DB}"/>
              </a:ext>
            </a:extLst>
          </p:cNvPr>
          <p:cNvSpPr txBox="1"/>
          <p:nvPr/>
        </p:nvSpPr>
        <p:spPr>
          <a:xfrm>
            <a:off x="355337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F193C7-E3E3-3527-44F4-D13960AC882A}"/>
              </a:ext>
            </a:extLst>
          </p:cNvPr>
          <p:cNvSpPr txBox="1"/>
          <p:nvPr/>
        </p:nvSpPr>
        <p:spPr>
          <a:xfrm>
            <a:off x="-254430" y="6439764"/>
            <a:ext cx="53563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dirty="0">
                <a:latin typeface="Gill Sans"/>
              </a:rPr>
              <a:t>ChatGPT, personal communication, February 11, 2023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234D252-8AAE-3B0D-5319-9E94223C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9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3EAF1146-72E4-3179-FD5B-72A28B066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E2EEDC-A3DC-C3C7-FE78-F43C2539EB87}"/>
              </a:ext>
            </a:extLst>
          </p:cNvPr>
          <p:cNvSpPr txBox="1"/>
          <p:nvPr/>
        </p:nvSpPr>
        <p:spPr>
          <a:xfrm>
            <a:off x="7631885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out</a:t>
            </a:r>
          </a:p>
        </p:txBody>
      </p:sp>
      <p:pic>
        <p:nvPicPr>
          <p:cNvPr id="1028" name="Picture 4" descr="Books Icon PSD - Graphicsfuel">
            <a:extLst>
              <a:ext uri="{FF2B5EF4-FFF2-40B4-BE49-F238E27FC236}">
                <a16:creationId xmlns:a16="http://schemas.microsoft.com/office/drawing/2014/main" id="{2C52B5C0-1785-76EA-BB1A-3C017FEEC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733" y="4741246"/>
            <a:ext cx="1230256" cy="1230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92B82E-C2F5-F171-541F-9FB71C646182}"/>
              </a:ext>
            </a:extLst>
          </p:cNvPr>
          <p:cNvSpPr/>
          <p:nvPr/>
        </p:nvSpPr>
        <p:spPr>
          <a:xfrm>
            <a:off x="355336" y="2739733"/>
            <a:ext cx="5740663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E65F28-CC0C-B436-0AD6-18B7BE996935}"/>
              </a:ext>
            </a:extLst>
          </p:cNvPr>
          <p:cNvSpPr/>
          <p:nvPr/>
        </p:nvSpPr>
        <p:spPr>
          <a:xfrm>
            <a:off x="6266850" y="3968479"/>
            <a:ext cx="1177953" cy="1255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Machine Learning Icon - Free PNG &amp; SVG 2010152 - Noun Project">
            <a:extLst>
              <a:ext uri="{FF2B5EF4-FFF2-40B4-BE49-F238E27FC236}">
                <a16:creationId xmlns:a16="http://schemas.microsoft.com/office/drawing/2014/main" id="{65AA4A83-A9FE-5A2B-0453-C1FEB9E7C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275" y="3968479"/>
            <a:ext cx="1109101" cy="110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77A527C8-2B29-9EB0-E44F-6D6C3F5F4AF3}"/>
              </a:ext>
            </a:extLst>
          </p:cNvPr>
          <p:cNvSpPr/>
          <p:nvPr/>
        </p:nvSpPr>
        <p:spPr>
          <a:xfrm>
            <a:off x="7444800" y="4208705"/>
            <a:ext cx="692759" cy="62865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3520EB-1AA3-8F68-9A91-B46887846259}"/>
              </a:ext>
            </a:extLst>
          </p:cNvPr>
          <p:cNvSpPr/>
          <p:nvPr/>
        </p:nvSpPr>
        <p:spPr>
          <a:xfrm>
            <a:off x="5459381" y="4367529"/>
            <a:ext cx="807467" cy="3098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ChatGPT: El futuro de la redacción y su significado para los escritores -  Marketing DigitalMarketing Digital">
            <a:extLst>
              <a:ext uri="{FF2B5EF4-FFF2-40B4-BE49-F238E27FC236}">
                <a16:creationId xmlns:a16="http://schemas.microsoft.com/office/drawing/2014/main" id="{4027B0EA-0618-992C-C0F3-97DE2D25E2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94" t="5713" r="20830" b="8513"/>
          <a:stretch/>
        </p:blipFill>
        <p:spPr bwMode="auto">
          <a:xfrm>
            <a:off x="555885" y="3026475"/>
            <a:ext cx="1222409" cy="113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AEABC9E-99FC-616B-617C-2C6557ACF520}"/>
              </a:ext>
            </a:extLst>
          </p:cNvPr>
          <p:cNvSpPr/>
          <p:nvPr/>
        </p:nvSpPr>
        <p:spPr>
          <a:xfrm>
            <a:off x="1992430" y="2959100"/>
            <a:ext cx="100654" cy="12663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0E824E-C573-E14C-AD8C-098C8D75FDE3}"/>
              </a:ext>
            </a:extLst>
          </p:cNvPr>
          <p:cNvSpPr/>
          <p:nvPr/>
        </p:nvSpPr>
        <p:spPr>
          <a:xfrm>
            <a:off x="2000614" y="4549750"/>
            <a:ext cx="100654" cy="1597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314AC9-29DA-971F-A7A1-0283CAC25DA7}"/>
              </a:ext>
            </a:extLst>
          </p:cNvPr>
          <p:cNvSpPr txBox="1"/>
          <p:nvPr/>
        </p:nvSpPr>
        <p:spPr>
          <a:xfrm>
            <a:off x="2180743" y="4447310"/>
            <a:ext cx="37761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“</a:t>
            </a:r>
            <a:r>
              <a:rPr lang="en-US" i="1" dirty="0"/>
              <a:t>To be, or not to be: that is the question: Whether 'tis nobler in the mind to suffer the slings and arrows of outrageous fortune, or to take arms against a sea of troubles, and by opposing end them? To die: to sleep…</a:t>
            </a:r>
            <a:endParaRPr lang="es-ES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C2640B-13B7-E7E1-5326-16E334DA1A1C}"/>
              </a:ext>
            </a:extLst>
          </p:cNvPr>
          <p:cNvSpPr txBox="1"/>
          <p:nvPr/>
        </p:nvSpPr>
        <p:spPr>
          <a:xfrm>
            <a:off x="6164363" y="2852625"/>
            <a:ext cx="1366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Where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does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Don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Quixote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begin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?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4CD5CA-73EE-B374-9EA9-B81824B69694}"/>
              </a:ext>
            </a:extLst>
          </p:cNvPr>
          <p:cNvSpPr txBox="1"/>
          <p:nvPr/>
        </p:nvSpPr>
        <p:spPr>
          <a:xfrm>
            <a:off x="6162124" y="5361497"/>
            <a:ext cx="1366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Who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wrote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Hamlet?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64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C450981-F33E-B84A-F9B7-E6DC8BDFCBC5}"/>
              </a:ext>
            </a:extLst>
          </p:cNvPr>
          <p:cNvSpPr txBox="1"/>
          <p:nvPr/>
        </p:nvSpPr>
        <p:spPr>
          <a:xfrm>
            <a:off x="2156386" y="2875485"/>
            <a:ext cx="37761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“</a:t>
            </a:r>
            <a:r>
              <a:rPr lang="en-US" i="1" dirty="0"/>
              <a:t>In a village in la Mancha, whose name I do not care to remember, an hidalgo lived not long ago, one of those who keeps a lance on the rack, an old leather shield, skinny nag..</a:t>
            </a:r>
            <a:r>
              <a:rPr lang="es-ES" i="1" dirty="0"/>
              <a:t>.”</a:t>
            </a:r>
            <a:endParaRPr lang="en-US" i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F0AD40-1901-30CF-6C02-A9868189F21D}"/>
              </a:ext>
            </a:extLst>
          </p:cNvPr>
          <p:cNvSpPr/>
          <p:nvPr/>
        </p:nvSpPr>
        <p:spPr>
          <a:xfrm>
            <a:off x="7615654" y="2739733"/>
            <a:ext cx="4221009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47D84035-6244-DA9A-CE95-760BD8BF060E}"/>
              </a:ext>
            </a:extLst>
          </p:cNvPr>
          <p:cNvSpPr>
            <a:spLocks/>
          </p:cNvSpPr>
          <p:nvPr/>
        </p:nvSpPr>
        <p:spPr bwMode="auto">
          <a:xfrm>
            <a:off x="355336" y="1443489"/>
            <a:ext cx="45103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How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does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machine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learning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work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536E5-7EB5-46E0-3578-57928A88B8DB}"/>
              </a:ext>
            </a:extLst>
          </p:cNvPr>
          <p:cNvSpPr txBox="1"/>
          <p:nvPr/>
        </p:nvSpPr>
        <p:spPr>
          <a:xfrm>
            <a:off x="355337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F193C7-E3E3-3527-44F4-D13960AC882A}"/>
              </a:ext>
            </a:extLst>
          </p:cNvPr>
          <p:cNvSpPr txBox="1"/>
          <p:nvPr/>
        </p:nvSpPr>
        <p:spPr>
          <a:xfrm>
            <a:off x="-254430" y="6439764"/>
            <a:ext cx="53563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dirty="0">
                <a:latin typeface="Gill Sans"/>
              </a:rPr>
              <a:t>ChatGPT, personal communication, February 11, 2023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234D252-8AAE-3B0D-5319-9E94223C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10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3EAF1146-72E4-3179-FD5B-72A28B066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E2EEDC-A3DC-C3C7-FE78-F43C2539EB87}"/>
              </a:ext>
            </a:extLst>
          </p:cNvPr>
          <p:cNvSpPr txBox="1"/>
          <p:nvPr/>
        </p:nvSpPr>
        <p:spPr>
          <a:xfrm>
            <a:off x="7631885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out</a:t>
            </a:r>
          </a:p>
        </p:txBody>
      </p:sp>
      <p:pic>
        <p:nvPicPr>
          <p:cNvPr id="1028" name="Picture 4" descr="Books Icon PSD - Graphicsfuel">
            <a:extLst>
              <a:ext uri="{FF2B5EF4-FFF2-40B4-BE49-F238E27FC236}">
                <a16:creationId xmlns:a16="http://schemas.microsoft.com/office/drawing/2014/main" id="{2C52B5C0-1785-76EA-BB1A-3C017FEEC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733" y="4741246"/>
            <a:ext cx="1230256" cy="1230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92B82E-C2F5-F171-541F-9FB71C646182}"/>
              </a:ext>
            </a:extLst>
          </p:cNvPr>
          <p:cNvSpPr/>
          <p:nvPr/>
        </p:nvSpPr>
        <p:spPr>
          <a:xfrm>
            <a:off x="355336" y="2739733"/>
            <a:ext cx="5740663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E65F28-CC0C-B436-0AD6-18B7BE996935}"/>
              </a:ext>
            </a:extLst>
          </p:cNvPr>
          <p:cNvSpPr/>
          <p:nvPr/>
        </p:nvSpPr>
        <p:spPr>
          <a:xfrm>
            <a:off x="6266850" y="3968479"/>
            <a:ext cx="1177953" cy="1255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Machine Learning Icon - Free PNG &amp; SVG 2010152 - Noun Project">
            <a:extLst>
              <a:ext uri="{FF2B5EF4-FFF2-40B4-BE49-F238E27FC236}">
                <a16:creationId xmlns:a16="http://schemas.microsoft.com/office/drawing/2014/main" id="{65AA4A83-A9FE-5A2B-0453-C1FEB9E7C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275" y="3968479"/>
            <a:ext cx="1109101" cy="110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B3520EB-1AA3-8F68-9A91-B46887846259}"/>
              </a:ext>
            </a:extLst>
          </p:cNvPr>
          <p:cNvSpPr/>
          <p:nvPr/>
        </p:nvSpPr>
        <p:spPr>
          <a:xfrm>
            <a:off x="5459381" y="4367529"/>
            <a:ext cx="807467" cy="3098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ChatGPT: El futuro de la redacción y su significado para los escritores -  Marketing DigitalMarketing Digital">
            <a:extLst>
              <a:ext uri="{FF2B5EF4-FFF2-40B4-BE49-F238E27FC236}">
                <a16:creationId xmlns:a16="http://schemas.microsoft.com/office/drawing/2014/main" id="{4027B0EA-0618-992C-C0F3-97DE2D25E2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94" t="5713" r="20830" b="8513"/>
          <a:stretch/>
        </p:blipFill>
        <p:spPr bwMode="auto">
          <a:xfrm>
            <a:off x="555885" y="3026475"/>
            <a:ext cx="1222409" cy="113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AEABC9E-99FC-616B-617C-2C6557ACF520}"/>
              </a:ext>
            </a:extLst>
          </p:cNvPr>
          <p:cNvSpPr/>
          <p:nvPr/>
        </p:nvSpPr>
        <p:spPr>
          <a:xfrm>
            <a:off x="1992430" y="2959100"/>
            <a:ext cx="100654" cy="12663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0E824E-C573-E14C-AD8C-098C8D75FDE3}"/>
              </a:ext>
            </a:extLst>
          </p:cNvPr>
          <p:cNvSpPr/>
          <p:nvPr/>
        </p:nvSpPr>
        <p:spPr>
          <a:xfrm>
            <a:off x="2000614" y="4549750"/>
            <a:ext cx="100654" cy="1597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314AC9-29DA-971F-A7A1-0283CAC25DA7}"/>
              </a:ext>
            </a:extLst>
          </p:cNvPr>
          <p:cNvSpPr txBox="1"/>
          <p:nvPr/>
        </p:nvSpPr>
        <p:spPr>
          <a:xfrm>
            <a:off x="2180743" y="4447310"/>
            <a:ext cx="37761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“</a:t>
            </a:r>
            <a:r>
              <a:rPr lang="en-US" i="1" dirty="0"/>
              <a:t>To be, or not to be: that is the question: Whether 'tis nobler in the mind to suffer the slings and arrows of outrageous fortune, or to take arms against a sea of troubles, and by opposing end them? To die: to sleep…</a:t>
            </a:r>
            <a:endParaRPr lang="es-ES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C2640B-13B7-E7E1-5326-16E334DA1A1C}"/>
              </a:ext>
            </a:extLst>
          </p:cNvPr>
          <p:cNvSpPr txBox="1"/>
          <p:nvPr/>
        </p:nvSpPr>
        <p:spPr>
          <a:xfrm>
            <a:off x="6164363" y="2852625"/>
            <a:ext cx="1366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Where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does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Don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Quixote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begin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?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13FC6D-715B-1C7F-9DDB-B6CA30AD21C1}"/>
              </a:ext>
            </a:extLst>
          </p:cNvPr>
          <p:cNvSpPr txBox="1"/>
          <p:nvPr/>
        </p:nvSpPr>
        <p:spPr>
          <a:xfrm>
            <a:off x="7985367" y="2890201"/>
            <a:ext cx="37761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“</a:t>
            </a:r>
            <a:r>
              <a:rPr lang="en-US" i="1" dirty="0"/>
              <a:t>Don Quixote begins in a place in La Mancha. Don Quixote of La Mancha is a novel written by the Spanish author Miguel de Cervantes Saavedra. Its first part was published with the title 'The Ingenious Gentleman Don Quixote’</a:t>
            </a:r>
            <a:r>
              <a:rPr lang="es-ES" i="1" dirty="0"/>
              <a:t>…”</a:t>
            </a:r>
            <a:endParaRPr lang="en-US" i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55780C-52E2-5F77-9DFC-2B698CE80DF7}"/>
              </a:ext>
            </a:extLst>
          </p:cNvPr>
          <p:cNvSpPr/>
          <p:nvPr/>
        </p:nvSpPr>
        <p:spPr>
          <a:xfrm>
            <a:off x="7821411" y="2973816"/>
            <a:ext cx="100654" cy="12663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7A527C8-2B29-9EB0-E44F-6D6C3F5F4AF3}"/>
              </a:ext>
            </a:extLst>
          </p:cNvPr>
          <p:cNvSpPr/>
          <p:nvPr/>
        </p:nvSpPr>
        <p:spPr>
          <a:xfrm>
            <a:off x="7444800" y="4208705"/>
            <a:ext cx="692759" cy="62865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58BE52-9E9A-8E31-BC45-600E58B336D7}"/>
              </a:ext>
            </a:extLst>
          </p:cNvPr>
          <p:cNvSpPr txBox="1"/>
          <p:nvPr/>
        </p:nvSpPr>
        <p:spPr>
          <a:xfrm>
            <a:off x="6162124" y="5361497"/>
            <a:ext cx="1366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Who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wrote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Hamlet?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941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C450981-F33E-B84A-F9B7-E6DC8BDFCBC5}"/>
              </a:ext>
            </a:extLst>
          </p:cNvPr>
          <p:cNvSpPr txBox="1"/>
          <p:nvPr/>
        </p:nvSpPr>
        <p:spPr>
          <a:xfrm>
            <a:off x="2156386" y="2875485"/>
            <a:ext cx="37761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“</a:t>
            </a:r>
            <a:r>
              <a:rPr lang="en-US" i="1" dirty="0"/>
              <a:t>In a village in la Mancha, whose name I do not care to remember, an hidalgo lived not long ago, one of those who keeps a lance on the rack, an old leather shield, skinny nag..</a:t>
            </a:r>
            <a:r>
              <a:rPr lang="es-ES" i="1" dirty="0"/>
              <a:t>.”</a:t>
            </a:r>
            <a:endParaRPr lang="en-US" i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F0AD40-1901-30CF-6C02-A9868189F21D}"/>
              </a:ext>
            </a:extLst>
          </p:cNvPr>
          <p:cNvSpPr/>
          <p:nvPr/>
        </p:nvSpPr>
        <p:spPr>
          <a:xfrm>
            <a:off x="7615654" y="2739733"/>
            <a:ext cx="4221009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47D84035-6244-DA9A-CE95-760BD8BF060E}"/>
              </a:ext>
            </a:extLst>
          </p:cNvPr>
          <p:cNvSpPr>
            <a:spLocks/>
          </p:cNvSpPr>
          <p:nvPr/>
        </p:nvSpPr>
        <p:spPr bwMode="auto">
          <a:xfrm>
            <a:off x="355336" y="1443489"/>
            <a:ext cx="45103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How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does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machine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learning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work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536E5-7EB5-46E0-3578-57928A88B8DB}"/>
              </a:ext>
            </a:extLst>
          </p:cNvPr>
          <p:cNvSpPr txBox="1"/>
          <p:nvPr/>
        </p:nvSpPr>
        <p:spPr>
          <a:xfrm>
            <a:off x="355337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F193C7-E3E3-3527-44F4-D13960AC882A}"/>
              </a:ext>
            </a:extLst>
          </p:cNvPr>
          <p:cNvSpPr txBox="1"/>
          <p:nvPr/>
        </p:nvSpPr>
        <p:spPr>
          <a:xfrm>
            <a:off x="-254430" y="6439764"/>
            <a:ext cx="53563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dirty="0">
                <a:latin typeface="Gill Sans"/>
              </a:rPr>
              <a:t>ChatGPT, personal communication, February 11, 2023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234D252-8AAE-3B0D-5319-9E94223C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11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3EAF1146-72E4-3179-FD5B-72A28B066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E2EEDC-A3DC-C3C7-FE78-F43C2539EB87}"/>
              </a:ext>
            </a:extLst>
          </p:cNvPr>
          <p:cNvSpPr txBox="1"/>
          <p:nvPr/>
        </p:nvSpPr>
        <p:spPr>
          <a:xfrm>
            <a:off x="7631885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out</a:t>
            </a:r>
          </a:p>
        </p:txBody>
      </p:sp>
      <p:pic>
        <p:nvPicPr>
          <p:cNvPr id="1028" name="Picture 4" descr="Books Icon PSD - Graphicsfuel">
            <a:extLst>
              <a:ext uri="{FF2B5EF4-FFF2-40B4-BE49-F238E27FC236}">
                <a16:creationId xmlns:a16="http://schemas.microsoft.com/office/drawing/2014/main" id="{2C52B5C0-1785-76EA-BB1A-3C017FEEC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733" y="4741246"/>
            <a:ext cx="1230256" cy="1230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92B82E-C2F5-F171-541F-9FB71C646182}"/>
              </a:ext>
            </a:extLst>
          </p:cNvPr>
          <p:cNvSpPr/>
          <p:nvPr/>
        </p:nvSpPr>
        <p:spPr>
          <a:xfrm>
            <a:off x="355336" y="2739733"/>
            <a:ext cx="5740663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E65F28-CC0C-B436-0AD6-18B7BE996935}"/>
              </a:ext>
            </a:extLst>
          </p:cNvPr>
          <p:cNvSpPr/>
          <p:nvPr/>
        </p:nvSpPr>
        <p:spPr>
          <a:xfrm>
            <a:off x="6266850" y="3968479"/>
            <a:ext cx="1177953" cy="1255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Machine Learning Icon - Free PNG &amp; SVG 2010152 - Noun Project">
            <a:extLst>
              <a:ext uri="{FF2B5EF4-FFF2-40B4-BE49-F238E27FC236}">
                <a16:creationId xmlns:a16="http://schemas.microsoft.com/office/drawing/2014/main" id="{65AA4A83-A9FE-5A2B-0453-C1FEB9E7C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275" y="3968479"/>
            <a:ext cx="1109101" cy="110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B3520EB-1AA3-8F68-9A91-B46887846259}"/>
              </a:ext>
            </a:extLst>
          </p:cNvPr>
          <p:cNvSpPr/>
          <p:nvPr/>
        </p:nvSpPr>
        <p:spPr>
          <a:xfrm>
            <a:off x="5459381" y="4367529"/>
            <a:ext cx="807467" cy="3098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ChatGPT: El futuro de la redacción y su significado para los escritores -  Marketing DigitalMarketing Digital">
            <a:extLst>
              <a:ext uri="{FF2B5EF4-FFF2-40B4-BE49-F238E27FC236}">
                <a16:creationId xmlns:a16="http://schemas.microsoft.com/office/drawing/2014/main" id="{4027B0EA-0618-992C-C0F3-97DE2D25E2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94" t="5713" r="20830" b="8513"/>
          <a:stretch/>
        </p:blipFill>
        <p:spPr bwMode="auto">
          <a:xfrm>
            <a:off x="555885" y="3026475"/>
            <a:ext cx="1222409" cy="113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AEABC9E-99FC-616B-617C-2C6557ACF520}"/>
              </a:ext>
            </a:extLst>
          </p:cNvPr>
          <p:cNvSpPr/>
          <p:nvPr/>
        </p:nvSpPr>
        <p:spPr>
          <a:xfrm>
            <a:off x="1992430" y="2959100"/>
            <a:ext cx="100654" cy="12663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0E824E-C573-E14C-AD8C-098C8D75FDE3}"/>
              </a:ext>
            </a:extLst>
          </p:cNvPr>
          <p:cNvSpPr/>
          <p:nvPr/>
        </p:nvSpPr>
        <p:spPr>
          <a:xfrm>
            <a:off x="2000614" y="4549750"/>
            <a:ext cx="100654" cy="15970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314AC9-29DA-971F-A7A1-0283CAC25DA7}"/>
              </a:ext>
            </a:extLst>
          </p:cNvPr>
          <p:cNvSpPr txBox="1"/>
          <p:nvPr/>
        </p:nvSpPr>
        <p:spPr>
          <a:xfrm>
            <a:off x="2180743" y="4447310"/>
            <a:ext cx="37761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“</a:t>
            </a:r>
            <a:r>
              <a:rPr lang="en-US" i="1" dirty="0"/>
              <a:t>To be, or not to be: that is the question: Whether 'tis nobler in the mind to suffer the slings and arrows of outrageous fortune, or to take arms against a sea of troubles, and by opposing end them? To die: to sleep…</a:t>
            </a:r>
            <a:endParaRPr lang="es-ES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C2640B-13B7-E7E1-5326-16E334DA1A1C}"/>
              </a:ext>
            </a:extLst>
          </p:cNvPr>
          <p:cNvSpPr txBox="1"/>
          <p:nvPr/>
        </p:nvSpPr>
        <p:spPr>
          <a:xfrm>
            <a:off x="6164363" y="2852625"/>
            <a:ext cx="1366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Where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does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Don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Quixote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begin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?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13FC6D-715B-1C7F-9DDB-B6CA30AD21C1}"/>
              </a:ext>
            </a:extLst>
          </p:cNvPr>
          <p:cNvSpPr txBox="1"/>
          <p:nvPr/>
        </p:nvSpPr>
        <p:spPr>
          <a:xfrm>
            <a:off x="7985367" y="2890201"/>
            <a:ext cx="37761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“</a:t>
            </a:r>
            <a:r>
              <a:rPr lang="en-US" i="1" dirty="0"/>
              <a:t>Don Quixote begins in a place in La Mancha. Don Quixote of La Mancha is a novel written by the Spanish author Miguel de Cervantes Saavedra. Its first part was published with the title 'The Ingenious Gentleman Don Quixote’</a:t>
            </a:r>
            <a:r>
              <a:rPr lang="es-ES" i="1" dirty="0"/>
              <a:t>…”</a:t>
            </a:r>
            <a:endParaRPr lang="en-US" i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55780C-52E2-5F77-9DFC-2B698CE80DF7}"/>
              </a:ext>
            </a:extLst>
          </p:cNvPr>
          <p:cNvSpPr/>
          <p:nvPr/>
        </p:nvSpPr>
        <p:spPr>
          <a:xfrm>
            <a:off x="7821411" y="2973816"/>
            <a:ext cx="100654" cy="12663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7A527C8-2B29-9EB0-E44F-6D6C3F5F4AF3}"/>
              </a:ext>
            </a:extLst>
          </p:cNvPr>
          <p:cNvSpPr/>
          <p:nvPr/>
        </p:nvSpPr>
        <p:spPr>
          <a:xfrm>
            <a:off x="7444800" y="4208705"/>
            <a:ext cx="692759" cy="62865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06DAEC-6279-5063-02F4-AD886A2A740D}"/>
              </a:ext>
            </a:extLst>
          </p:cNvPr>
          <p:cNvSpPr txBox="1"/>
          <p:nvPr/>
        </p:nvSpPr>
        <p:spPr>
          <a:xfrm>
            <a:off x="7985367" y="4760705"/>
            <a:ext cx="37761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“</a:t>
            </a:r>
            <a:r>
              <a:rPr lang="en-US" i="1" dirty="0"/>
              <a:t>William Shakespeare wrote Hamlet. The tragedy of Hamlet, Prince of Denmark (original title in English: The Tragedy of Hamlet, Prince of Denmark), is a play by the</a:t>
            </a:r>
            <a:r>
              <a:rPr lang="es-ES" i="1" dirty="0"/>
              <a:t>…”</a:t>
            </a:r>
            <a:endParaRPr lang="en-US" i="1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FAB74B-18F4-275D-005B-83AC209368F1}"/>
              </a:ext>
            </a:extLst>
          </p:cNvPr>
          <p:cNvSpPr/>
          <p:nvPr/>
        </p:nvSpPr>
        <p:spPr>
          <a:xfrm>
            <a:off x="7821411" y="4878610"/>
            <a:ext cx="100654" cy="12663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0ADBF9-F7F1-2176-885D-A06D6530780D}"/>
              </a:ext>
            </a:extLst>
          </p:cNvPr>
          <p:cNvSpPr txBox="1"/>
          <p:nvPr/>
        </p:nvSpPr>
        <p:spPr>
          <a:xfrm>
            <a:off x="6162124" y="5361497"/>
            <a:ext cx="1366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Who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wrote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Hamlet?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7658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47D84035-6244-DA9A-CE95-760BD8BF060E}"/>
              </a:ext>
            </a:extLst>
          </p:cNvPr>
          <p:cNvSpPr>
            <a:spLocks/>
          </p:cNvSpPr>
          <p:nvPr/>
        </p:nvSpPr>
        <p:spPr bwMode="auto">
          <a:xfrm>
            <a:off x="355336" y="1443489"/>
            <a:ext cx="61465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How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does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machine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learning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work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>
                <a:solidFill>
                  <a:srgbClr val="C00000"/>
                </a:solidFill>
                <a:latin typeface="Gill Sans" charset="0"/>
                <a:cs typeface="Gill Sans" charset="0"/>
                <a:sym typeface="Gill Sans" charset="0"/>
              </a:rPr>
              <a:t>in </a:t>
            </a:r>
            <a:r>
              <a:rPr lang="es-ES" sz="2400" b="1" dirty="0" err="1">
                <a:solidFill>
                  <a:srgbClr val="C00000"/>
                </a:solidFill>
                <a:latin typeface="Gill Sans" charset="0"/>
                <a:cs typeface="Gill Sans" charset="0"/>
                <a:sym typeface="Gill Sans" charset="0"/>
              </a:rPr>
              <a:t>chemistry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536E5-7EB5-46E0-3578-57928A88B8DB}"/>
              </a:ext>
            </a:extLst>
          </p:cNvPr>
          <p:cNvSpPr txBox="1"/>
          <p:nvPr/>
        </p:nvSpPr>
        <p:spPr>
          <a:xfrm>
            <a:off x="355337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F193C7-E3E3-3527-44F4-D13960AC882A}"/>
              </a:ext>
            </a:extLst>
          </p:cNvPr>
          <p:cNvSpPr txBox="1"/>
          <p:nvPr/>
        </p:nvSpPr>
        <p:spPr>
          <a:xfrm>
            <a:off x="93133" y="6439763"/>
            <a:ext cx="2358721" cy="34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b="0" i="1" u="none" strike="noStrike" baseline="0" dirty="0">
                <a:solidFill>
                  <a:srgbClr val="231F20"/>
                </a:solidFill>
                <a:latin typeface="Gill Sans"/>
              </a:rPr>
              <a:t>Science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 </a:t>
            </a:r>
            <a:r>
              <a:rPr lang="en-US" sz="1600" b="1" i="0" u="none" strike="noStrike" baseline="0" dirty="0">
                <a:solidFill>
                  <a:srgbClr val="231F20"/>
                </a:solidFill>
                <a:latin typeface="Gill Sans"/>
              </a:rPr>
              <a:t>2018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, </a:t>
            </a:r>
            <a:r>
              <a:rPr lang="en-US" sz="1600" b="0" i="1" u="none" strike="noStrike" baseline="0" dirty="0">
                <a:solidFill>
                  <a:srgbClr val="231F20"/>
                </a:solidFill>
                <a:latin typeface="Gill Sans"/>
              </a:rPr>
              <a:t>360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, 186</a:t>
            </a:r>
            <a:endParaRPr lang="en-US" sz="1600" dirty="0">
              <a:latin typeface="Gill Sans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234D252-8AAE-3B0D-5319-9E94223C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12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3EAF1146-72E4-3179-FD5B-72A28B066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92B82E-C2F5-F171-541F-9FB71C646182}"/>
              </a:ext>
            </a:extLst>
          </p:cNvPr>
          <p:cNvSpPr/>
          <p:nvPr/>
        </p:nvSpPr>
        <p:spPr>
          <a:xfrm>
            <a:off x="355336" y="2739733"/>
            <a:ext cx="5740663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621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47D84035-6244-DA9A-CE95-760BD8BF060E}"/>
              </a:ext>
            </a:extLst>
          </p:cNvPr>
          <p:cNvSpPr>
            <a:spLocks/>
          </p:cNvSpPr>
          <p:nvPr/>
        </p:nvSpPr>
        <p:spPr bwMode="auto">
          <a:xfrm>
            <a:off x="355336" y="1443489"/>
            <a:ext cx="63665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How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does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machine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learning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work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>
                <a:solidFill>
                  <a:srgbClr val="C00000"/>
                </a:solidFill>
                <a:latin typeface="Gill Sans" charset="0"/>
                <a:cs typeface="Gill Sans" charset="0"/>
                <a:sym typeface="Gill Sans" charset="0"/>
              </a:rPr>
              <a:t>in </a:t>
            </a:r>
            <a:r>
              <a:rPr lang="es-ES" sz="2400" b="1" dirty="0" err="1">
                <a:solidFill>
                  <a:srgbClr val="C00000"/>
                </a:solidFill>
                <a:latin typeface="Gill Sans" charset="0"/>
                <a:cs typeface="Gill Sans" charset="0"/>
                <a:sym typeface="Gill Sans" charset="0"/>
              </a:rPr>
              <a:t>chemistry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536E5-7EB5-46E0-3578-57928A88B8DB}"/>
              </a:ext>
            </a:extLst>
          </p:cNvPr>
          <p:cNvSpPr txBox="1"/>
          <p:nvPr/>
        </p:nvSpPr>
        <p:spPr>
          <a:xfrm>
            <a:off x="355337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F193C7-E3E3-3527-44F4-D13960AC882A}"/>
              </a:ext>
            </a:extLst>
          </p:cNvPr>
          <p:cNvSpPr txBox="1"/>
          <p:nvPr/>
        </p:nvSpPr>
        <p:spPr>
          <a:xfrm>
            <a:off x="93133" y="6439763"/>
            <a:ext cx="2358721" cy="34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b="0" i="1" u="none" strike="noStrike" baseline="0" dirty="0">
                <a:solidFill>
                  <a:srgbClr val="231F20"/>
                </a:solidFill>
                <a:latin typeface="Gill Sans"/>
              </a:rPr>
              <a:t>Science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 </a:t>
            </a:r>
            <a:r>
              <a:rPr lang="en-US" sz="1600" b="1" i="0" u="none" strike="noStrike" baseline="0" dirty="0">
                <a:solidFill>
                  <a:srgbClr val="231F20"/>
                </a:solidFill>
                <a:latin typeface="Gill Sans"/>
              </a:rPr>
              <a:t>2018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, </a:t>
            </a:r>
            <a:r>
              <a:rPr lang="en-US" sz="1600" b="0" i="1" u="none" strike="noStrike" baseline="0" dirty="0">
                <a:solidFill>
                  <a:srgbClr val="231F20"/>
                </a:solidFill>
                <a:latin typeface="Gill Sans"/>
              </a:rPr>
              <a:t>360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, 186</a:t>
            </a:r>
            <a:endParaRPr lang="en-US" sz="1600" dirty="0">
              <a:latin typeface="Gill Sans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234D252-8AAE-3B0D-5319-9E94223C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13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3EAF1146-72E4-3179-FD5B-72A28B066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92B82E-C2F5-F171-541F-9FB71C646182}"/>
              </a:ext>
            </a:extLst>
          </p:cNvPr>
          <p:cNvSpPr/>
          <p:nvPr/>
        </p:nvSpPr>
        <p:spPr>
          <a:xfrm>
            <a:off x="355336" y="2739733"/>
            <a:ext cx="5740663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905669C-05D7-9134-9C2D-20E50D7B97E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373" t="4427" r="9720" b="2241"/>
          <a:stretch/>
        </p:blipFill>
        <p:spPr>
          <a:xfrm>
            <a:off x="564202" y="3122730"/>
            <a:ext cx="2449319" cy="2812256"/>
          </a:xfrm>
          <a:prstGeom prst="rect">
            <a:avLst/>
          </a:prstGeom>
          <a:ln w="12700">
            <a:solidFill>
              <a:srgbClr val="555390"/>
            </a:solidFill>
          </a:ln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15E160C-2FA1-3BE9-A39D-EEF4C6EC4D1C}"/>
              </a:ext>
            </a:extLst>
          </p:cNvPr>
          <p:cNvSpPr txBox="1"/>
          <p:nvPr/>
        </p:nvSpPr>
        <p:spPr>
          <a:xfrm>
            <a:off x="3289097" y="4169603"/>
            <a:ext cx="114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Charge</a:t>
            </a:r>
            <a:endParaRPr lang="es-ES" sz="1600" i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79B67A-6594-6979-B44F-B8B6F41EB205}"/>
              </a:ext>
            </a:extLst>
          </p:cNvPr>
          <p:cNvSpPr txBox="1"/>
          <p:nvPr/>
        </p:nvSpPr>
        <p:spPr>
          <a:xfrm>
            <a:off x="4374354" y="4169603"/>
            <a:ext cx="168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Sterics</a:t>
            </a:r>
            <a:endParaRPr lang="es-ES" sz="1600" i="1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7F317D7-C519-9E0D-AA77-3438F48A03A9}"/>
              </a:ext>
            </a:extLst>
          </p:cNvPr>
          <p:cNvSpPr/>
          <p:nvPr/>
        </p:nvSpPr>
        <p:spPr>
          <a:xfrm>
            <a:off x="3230848" y="2833960"/>
            <a:ext cx="100584" cy="3383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CA77EF-394A-6050-CED0-0A516CE392D6}"/>
              </a:ext>
            </a:extLst>
          </p:cNvPr>
          <p:cNvSpPr txBox="1"/>
          <p:nvPr/>
        </p:nvSpPr>
        <p:spPr>
          <a:xfrm>
            <a:off x="3365685" y="2871803"/>
            <a:ext cx="261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Molecular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E824A1F-6403-889B-C4C3-269F7155FBAE}"/>
              </a:ext>
            </a:extLst>
          </p:cNvPr>
          <p:cNvSpPr txBox="1"/>
          <p:nvPr/>
        </p:nvSpPr>
        <p:spPr>
          <a:xfrm>
            <a:off x="3365685" y="3785465"/>
            <a:ext cx="261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 err="1"/>
              <a:t>Atomic</a:t>
            </a:r>
            <a:r>
              <a:rPr lang="es-ES" i="1" dirty="0"/>
              <a:t>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395115-66B4-DF2F-A657-F1C21685CB40}"/>
              </a:ext>
            </a:extLst>
          </p:cNvPr>
          <p:cNvSpPr txBox="1"/>
          <p:nvPr/>
        </p:nvSpPr>
        <p:spPr>
          <a:xfrm>
            <a:off x="3365685" y="4631391"/>
            <a:ext cx="284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Material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0F20BB-F627-D528-AE91-DF6FE527EDFF}"/>
              </a:ext>
            </a:extLst>
          </p:cNvPr>
          <p:cNvSpPr txBox="1"/>
          <p:nvPr/>
        </p:nvSpPr>
        <p:spPr>
          <a:xfrm>
            <a:off x="3365685" y="5511185"/>
            <a:ext cx="284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 err="1"/>
              <a:t>Process</a:t>
            </a:r>
            <a:r>
              <a:rPr lang="es-ES" i="1" dirty="0"/>
              <a:t>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7863434-2AEB-A2E5-8027-B40F8C63ECC5}"/>
              </a:ext>
            </a:extLst>
          </p:cNvPr>
          <p:cNvSpPr txBox="1"/>
          <p:nvPr/>
        </p:nvSpPr>
        <p:spPr>
          <a:xfrm>
            <a:off x="3251753" y="3268457"/>
            <a:ext cx="26113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Solubility</a:t>
            </a:r>
            <a:endParaRPr lang="es-ES" sz="1600" i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B9634E2-9B19-4F2D-54E9-28829C9B3860}"/>
              </a:ext>
            </a:extLst>
          </p:cNvPr>
          <p:cNvSpPr txBox="1"/>
          <p:nvPr/>
        </p:nvSpPr>
        <p:spPr>
          <a:xfrm>
            <a:off x="4633279" y="3268457"/>
            <a:ext cx="114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m.p</a:t>
            </a:r>
            <a:r>
              <a:rPr lang="es-ES" sz="1600" i="1" dirty="0"/>
              <a:t>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E27AC09-E80B-A947-254B-D5868AE3FC0A}"/>
              </a:ext>
            </a:extLst>
          </p:cNvPr>
          <p:cNvSpPr txBox="1"/>
          <p:nvPr/>
        </p:nvSpPr>
        <p:spPr>
          <a:xfrm>
            <a:off x="3280937" y="5018489"/>
            <a:ext cx="2868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Component</a:t>
            </a:r>
            <a:r>
              <a:rPr lang="es-ES" sz="1600" i="1" dirty="0"/>
              <a:t> ratio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68C50B8-E4DE-96AB-EDE2-C37AC6967BEF}"/>
              </a:ext>
            </a:extLst>
          </p:cNvPr>
          <p:cNvSpPr txBox="1"/>
          <p:nvPr/>
        </p:nvSpPr>
        <p:spPr>
          <a:xfrm>
            <a:off x="3294800" y="5867375"/>
            <a:ext cx="16581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Temperature</a:t>
            </a:r>
            <a:endParaRPr lang="es-ES" sz="1600" i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77B4AC4-2DBA-3C6E-0F0B-D00D72AEE763}"/>
              </a:ext>
            </a:extLst>
          </p:cNvPr>
          <p:cNvSpPr txBox="1"/>
          <p:nvPr/>
        </p:nvSpPr>
        <p:spPr>
          <a:xfrm>
            <a:off x="4796509" y="5867375"/>
            <a:ext cx="1180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Pressure</a:t>
            </a:r>
            <a:endParaRPr lang="es-ES" sz="1600" i="1" dirty="0"/>
          </a:p>
        </p:txBody>
      </p:sp>
    </p:spTree>
    <p:extLst>
      <p:ext uri="{BB962C8B-B14F-4D97-AF65-F5344CB8AC3E}">
        <p14:creationId xmlns:p14="http://schemas.microsoft.com/office/powerpoint/2010/main" val="3110255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47D84035-6244-DA9A-CE95-760BD8BF060E}"/>
              </a:ext>
            </a:extLst>
          </p:cNvPr>
          <p:cNvSpPr>
            <a:spLocks/>
          </p:cNvSpPr>
          <p:nvPr/>
        </p:nvSpPr>
        <p:spPr bwMode="auto">
          <a:xfrm>
            <a:off x="355336" y="1443489"/>
            <a:ext cx="63665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How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does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machine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learning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work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>
                <a:solidFill>
                  <a:srgbClr val="C00000"/>
                </a:solidFill>
                <a:latin typeface="Gill Sans" charset="0"/>
                <a:cs typeface="Gill Sans" charset="0"/>
                <a:sym typeface="Gill Sans" charset="0"/>
              </a:rPr>
              <a:t>in </a:t>
            </a:r>
            <a:r>
              <a:rPr lang="es-ES" sz="2400" b="1" dirty="0" err="1">
                <a:solidFill>
                  <a:srgbClr val="C00000"/>
                </a:solidFill>
                <a:latin typeface="Gill Sans" charset="0"/>
                <a:cs typeface="Gill Sans" charset="0"/>
                <a:sym typeface="Gill Sans" charset="0"/>
              </a:rPr>
              <a:t>chemistry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536E5-7EB5-46E0-3578-57928A88B8DB}"/>
              </a:ext>
            </a:extLst>
          </p:cNvPr>
          <p:cNvSpPr txBox="1"/>
          <p:nvPr/>
        </p:nvSpPr>
        <p:spPr>
          <a:xfrm>
            <a:off x="355337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in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234D252-8AAE-3B0D-5319-9E94223C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14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3EAF1146-72E4-3179-FD5B-72A28B066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92B82E-C2F5-F171-541F-9FB71C646182}"/>
              </a:ext>
            </a:extLst>
          </p:cNvPr>
          <p:cNvSpPr/>
          <p:nvPr/>
        </p:nvSpPr>
        <p:spPr>
          <a:xfrm>
            <a:off x="355336" y="2739733"/>
            <a:ext cx="5740663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E65F28-CC0C-B436-0AD6-18B7BE996935}"/>
              </a:ext>
            </a:extLst>
          </p:cNvPr>
          <p:cNvSpPr/>
          <p:nvPr/>
        </p:nvSpPr>
        <p:spPr>
          <a:xfrm>
            <a:off x="6266850" y="3968479"/>
            <a:ext cx="1177953" cy="1255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Machine Learning Icon - Free PNG &amp; SVG 2010152 - Noun Project">
            <a:extLst>
              <a:ext uri="{FF2B5EF4-FFF2-40B4-BE49-F238E27FC236}">
                <a16:creationId xmlns:a16="http://schemas.microsoft.com/office/drawing/2014/main" id="{65AA4A83-A9FE-5A2B-0453-C1FEB9E7C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275" y="3968479"/>
            <a:ext cx="1109101" cy="110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77A527C8-2B29-9EB0-E44F-6D6C3F5F4AF3}"/>
              </a:ext>
            </a:extLst>
          </p:cNvPr>
          <p:cNvSpPr/>
          <p:nvPr/>
        </p:nvSpPr>
        <p:spPr>
          <a:xfrm>
            <a:off x="7444800" y="4208705"/>
            <a:ext cx="692759" cy="62865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905669C-05D7-9134-9C2D-20E50D7B97E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373" t="4427" r="9720" b="2241"/>
          <a:stretch/>
        </p:blipFill>
        <p:spPr>
          <a:xfrm>
            <a:off x="564202" y="3122730"/>
            <a:ext cx="2449319" cy="2812256"/>
          </a:xfrm>
          <a:prstGeom prst="rect">
            <a:avLst/>
          </a:prstGeom>
          <a:ln w="12700">
            <a:solidFill>
              <a:srgbClr val="555390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04FA76-B298-4CE3-ED08-26341583E3CF}"/>
              </a:ext>
            </a:extLst>
          </p:cNvPr>
          <p:cNvSpPr txBox="1"/>
          <p:nvPr/>
        </p:nvSpPr>
        <p:spPr>
          <a:xfrm>
            <a:off x="93133" y="6439763"/>
            <a:ext cx="2358721" cy="34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b="0" i="1" u="none" strike="noStrike" baseline="0" dirty="0">
                <a:solidFill>
                  <a:srgbClr val="231F20"/>
                </a:solidFill>
                <a:latin typeface="Gill Sans"/>
              </a:rPr>
              <a:t>Science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 </a:t>
            </a:r>
            <a:r>
              <a:rPr lang="en-US" sz="1600" b="1" i="0" u="none" strike="noStrike" baseline="0" dirty="0">
                <a:solidFill>
                  <a:srgbClr val="231F20"/>
                </a:solidFill>
                <a:latin typeface="Gill Sans"/>
              </a:rPr>
              <a:t>2018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, </a:t>
            </a:r>
            <a:r>
              <a:rPr lang="en-US" sz="1600" b="0" i="1" u="none" strike="noStrike" baseline="0" dirty="0">
                <a:solidFill>
                  <a:srgbClr val="231F20"/>
                </a:solidFill>
                <a:latin typeface="Gill Sans"/>
              </a:rPr>
              <a:t>360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, 186</a:t>
            </a:r>
            <a:endParaRPr lang="en-US" sz="1600" dirty="0">
              <a:latin typeface="Gill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0127D0-071C-4EA2-4769-8D796DAC981B}"/>
              </a:ext>
            </a:extLst>
          </p:cNvPr>
          <p:cNvSpPr txBox="1"/>
          <p:nvPr/>
        </p:nvSpPr>
        <p:spPr>
          <a:xfrm>
            <a:off x="3289097" y="4169603"/>
            <a:ext cx="114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Charge</a:t>
            </a:r>
            <a:endParaRPr lang="es-ES" sz="1600" i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86205C-7226-F971-43CF-C3A670B5A748}"/>
              </a:ext>
            </a:extLst>
          </p:cNvPr>
          <p:cNvSpPr txBox="1"/>
          <p:nvPr/>
        </p:nvSpPr>
        <p:spPr>
          <a:xfrm>
            <a:off x="4374354" y="4169603"/>
            <a:ext cx="168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Sterics</a:t>
            </a:r>
            <a:endParaRPr lang="es-ES" sz="1600" i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B582B1-C84E-8793-D2A5-2C6B12BA771C}"/>
              </a:ext>
            </a:extLst>
          </p:cNvPr>
          <p:cNvSpPr/>
          <p:nvPr/>
        </p:nvSpPr>
        <p:spPr>
          <a:xfrm>
            <a:off x="5459381" y="4367529"/>
            <a:ext cx="807467" cy="3098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50BB79-14D2-872E-0F60-788008EE924B}"/>
              </a:ext>
            </a:extLst>
          </p:cNvPr>
          <p:cNvSpPr/>
          <p:nvPr/>
        </p:nvSpPr>
        <p:spPr>
          <a:xfrm>
            <a:off x="3230848" y="2833960"/>
            <a:ext cx="100584" cy="3383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20771F-0B18-04DE-A441-C7009A362752}"/>
              </a:ext>
            </a:extLst>
          </p:cNvPr>
          <p:cNvSpPr txBox="1"/>
          <p:nvPr/>
        </p:nvSpPr>
        <p:spPr>
          <a:xfrm>
            <a:off x="3365685" y="2871803"/>
            <a:ext cx="261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Molecular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A9E29D-F02E-0A38-E739-F91E9292EB40}"/>
              </a:ext>
            </a:extLst>
          </p:cNvPr>
          <p:cNvSpPr txBox="1"/>
          <p:nvPr/>
        </p:nvSpPr>
        <p:spPr>
          <a:xfrm>
            <a:off x="3365685" y="3785465"/>
            <a:ext cx="261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 err="1"/>
              <a:t>Atomic</a:t>
            </a:r>
            <a:r>
              <a:rPr lang="es-ES" i="1" dirty="0"/>
              <a:t>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FE3410-2401-96CA-093D-5216300C7666}"/>
              </a:ext>
            </a:extLst>
          </p:cNvPr>
          <p:cNvSpPr txBox="1"/>
          <p:nvPr/>
        </p:nvSpPr>
        <p:spPr>
          <a:xfrm>
            <a:off x="3365685" y="4631391"/>
            <a:ext cx="284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Material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BD213A-C431-6EE3-3B23-C88BBBB1CF32}"/>
              </a:ext>
            </a:extLst>
          </p:cNvPr>
          <p:cNvSpPr txBox="1"/>
          <p:nvPr/>
        </p:nvSpPr>
        <p:spPr>
          <a:xfrm>
            <a:off x="3365685" y="5511185"/>
            <a:ext cx="284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 err="1"/>
              <a:t>Process</a:t>
            </a:r>
            <a:r>
              <a:rPr lang="es-ES" i="1" dirty="0"/>
              <a:t>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2E3F04-7EC1-7EBC-ABB8-8DD91AF63ED8}"/>
              </a:ext>
            </a:extLst>
          </p:cNvPr>
          <p:cNvSpPr txBox="1"/>
          <p:nvPr/>
        </p:nvSpPr>
        <p:spPr>
          <a:xfrm>
            <a:off x="3251753" y="3268457"/>
            <a:ext cx="26113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Solubility</a:t>
            </a:r>
            <a:endParaRPr lang="es-ES" sz="1600" i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DF8C9A-1968-106C-B2E4-2E04CA3818E5}"/>
              </a:ext>
            </a:extLst>
          </p:cNvPr>
          <p:cNvSpPr txBox="1"/>
          <p:nvPr/>
        </p:nvSpPr>
        <p:spPr>
          <a:xfrm>
            <a:off x="4633279" y="3268457"/>
            <a:ext cx="114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m.p</a:t>
            </a:r>
            <a:r>
              <a:rPr lang="es-ES" sz="1600" i="1" dirty="0"/>
              <a:t>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32D5FC-6E94-A2B6-D55D-9494320B829E}"/>
              </a:ext>
            </a:extLst>
          </p:cNvPr>
          <p:cNvSpPr txBox="1"/>
          <p:nvPr/>
        </p:nvSpPr>
        <p:spPr>
          <a:xfrm>
            <a:off x="3280937" y="5018489"/>
            <a:ext cx="2868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Component</a:t>
            </a:r>
            <a:r>
              <a:rPr lang="es-ES" sz="1600" i="1" dirty="0"/>
              <a:t> ratio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F02A33-5A27-8392-D2F1-0986DDA80EEC}"/>
              </a:ext>
            </a:extLst>
          </p:cNvPr>
          <p:cNvSpPr txBox="1"/>
          <p:nvPr/>
        </p:nvSpPr>
        <p:spPr>
          <a:xfrm>
            <a:off x="3294800" y="5867375"/>
            <a:ext cx="16581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Temperature</a:t>
            </a:r>
            <a:endParaRPr lang="es-ES" sz="1600" i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FE5583-E145-B540-A672-F61CC970A9EF}"/>
              </a:ext>
            </a:extLst>
          </p:cNvPr>
          <p:cNvSpPr txBox="1"/>
          <p:nvPr/>
        </p:nvSpPr>
        <p:spPr>
          <a:xfrm>
            <a:off x="4796509" y="5867375"/>
            <a:ext cx="1180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Pressure</a:t>
            </a:r>
            <a:endParaRPr lang="es-ES" sz="1600" i="1" dirty="0"/>
          </a:p>
        </p:txBody>
      </p:sp>
    </p:spTree>
    <p:extLst>
      <p:ext uri="{BB962C8B-B14F-4D97-AF65-F5344CB8AC3E}">
        <p14:creationId xmlns:p14="http://schemas.microsoft.com/office/powerpoint/2010/main" val="2961556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D9168B-F678-FD6D-C666-D43253B6F83D}"/>
              </a:ext>
            </a:extLst>
          </p:cNvPr>
          <p:cNvSpPr/>
          <p:nvPr/>
        </p:nvSpPr>
        <p:spPr>
          <a:xfrm>
            <a:off x="7615654" y="2739733"/>
            <a:ext cx="4221009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34EEE5-881B-042A-5AB3-18BE36FD827F}"/>
              </a:ext>
            </a:extLst>
          </p:cNvPr>
          <p:cNvSpPr txBox="1"/>
          <p:nvPr/>
        </p:nvSpPr>
        <p:spPr>
          <a:xfrm>
            <a:off x="7631885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out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47D84035-6244-DA9A-CE95-760BD8BF060E}"/>
              </a:ext>
            </a:extLst>
          </p:cNvPr>
          <p:cNvSpPr>
            <a:spLocks/>
          </p:cNvSpPr>
          <p:nvPr/>
        </p:nvSpPr>
        <p:spPr bwMode="auto">
          <a:xfrm>
            <a:off x="355336" y="1443489"/>
            <a:ext cx="61465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How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does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machine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learning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work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>
                <a:solidFill>
                  <a:srgbClr val="C00000"/>
                </a:solidFill>
                <a:latin typeface="Gill Sans" charset="0"/>
                <a:cs typeface="Gill Sans" charset="0"/>
                <a:sym typeface="Gill Sans" charset="0"/>
              </a:rPr>
              <a:t>in </a:t>
            </a:r>
            <a:r>
              <a:rPr lang="es-ES" sz="2400" b="1" dirty="0" err="1">
                <a:solidFill>
                  <a:srgbClr val="C00000"/>
                </a:solidFill>
                <a:latin typeface="Gill Sans" charset="0"/>
                <a:cs typeface="Gill Sans" charset="0"/>
                <a:sym typeface="Gill Sans" charset="0"/>
              </a:rPr>
              <a:t>chemistry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536E5-7EB5-46E0-3578-57928A88B8DB}"/>
              </a:ext>
            </a:extLst>
          </p:cNvPr>
          <p:cNvSpPr txBox="1"/>
          <p:nvPr/>
        </p:nvSpPr>
        <p:spPr>
          <a:xfrm>
            <a:off x="355337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in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234D252-8AAE-3B0D-5319-9E94223C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15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3EAF1146-72E4-3179-FD5B-72A28B066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92B82E-C2F5-F171-541F-9FB71C646182}"/>
              </a:ext>
            </a:extLst>
          </p:cNvPr>
          <p:cNvSpPr/>
          <p:nvPr/>
        </p:nvSpPr>
        <p:spPr>
          <a:xfrm>
            <a:off x="355336" y="2739733"/>
            <a:ext cx="5740663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E65F28-CC0C-B436-0AD6-18B7BE996935}"/>
              </a:ext>
            </a:extLst>
          </p:cNvPr>
          <p:cNvSpPr/>
          <p:nvPr/>
        </p:nvSpPr>
        <p:spPr>
          <a:xfrm>
            <a:off x="6266850" y="3968479"/>
            <a:ext cx="1177953" cy="1255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Machine Learning Icon - Free PNG &amp; SVG 2010152 - Noun Project">
            <a:extLst>
              <a:ext uri="{FF2B5EF4-FFF2-40B4-BE49-F238E27FC236}">
                <a16:creationId xmlns:a16="http://schemas.microsoft.com/office/drawing/2014/main" id="{65AA4A83-A9FE-5A2B-0453-C1FEB9E7C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275" y="3968479"/>
            <a:ext cx="1109101" cy="110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7C2640B-13B7-E7E1-5326-16E334DA1A1C}"/>
              </a:ext>
            </a:extLst>
          </p:cNvPr>
          <p:cNvSpPr txBox="1"/>
          <p:nvPr/>
        </p:nvSpPr>
        <p:spPr>
          <a:xfrm>
            <a:off x="6172830" y="2827226"/>
            <a:ext cx="1366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Design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an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effective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catalyst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4CD5CA-73EE-B374-9EA9-B81824B69694}"/>
              </a:ext>
            </a:extLst>
          </p:cNvPr>
          <p:cNvSpPr txBox="1"/>
          <p:nvPr/>
        </p:nvSpPr>
        <p:spPr>
          <a:xfrm>
            <a:off x="6162124" y="5322807"/>
            <a:ext cx="1366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Design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an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optimal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solar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cell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7A527C8-2B29-9EB0-E44F-6D6C3F5F4AF3}"/>
              </a:ext>
            </a:extLst>
          </p:cNvPr>
          <p:cNvSpPr/>
          <p:nvPr/>
        </p:nvSpPr>
        <p:spPr>
          <a:xfrm>
            <a:off x="7444800" y="4208705"/>
            <a:ext cx="692759" cy="62865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905669C-05D7-9134-9C2D-20E50D7B97E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373" t="4427" r="9720" b="2241"/>
          <a:stretch/>
        </p:blipFill>
        <p:spPr>
          <a:xfrm>
            <a:off x="564202" y="3122730"/>
            <a:ext cx="2449319" cy="2812256"/>
          </a:xfrm>
          <a:prstGeom prst="rect">
            <a:avLst/>
          </a:prstGeom>
          <a:ln w="12700">
            <a:solidFill>
              <a:srgbClr val="555390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47A4759-D857-7080-B5CA-02994B1A8E4D}"/>
              </a:ext>
            </a:extLst>
          </p:cNvPr>
          <p:cNvSpPr txBox="1"/>
          <p:nvPr/>
        </p:nvSpPr>
        <p:spPr>
          <a:xfrm>
            <a:off x="93133" y="6439763"/>
            <a:ext cx="2358721" cy="34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b="0" i="1" u="none" strike="noStrike" baseline="0" dirty="0">
                <a:solidFill>
                  <a:srgbClr val="231F20"/>
                </a:solidFill>
                <a:latin typeface="Gill Sans"/>
              </a:rPr>
              <a:t>Science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 </a:t>
            </a:r>
            <a:r>
              <a:rPr lang="en-US" sz="1600" b="1" i="0" u="none" strike="noStrike" baseline="0" dirty="0">
                <a:solidFill>
                  <a:srgbClr val="231F20"/>
                </a:solidFill>
                <a:latin typeface="Gill Sans"/>
              </a:rPr>
              <a:t>2018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, </a:t>
            </a:r>
            <a:r>
              <a:rPr lang="en-US" sz="1600" b="0" i="1" u="none" strike="noStrike" baseline="0" dirty="0">
                <a:solidFill>
                  <a:srgbClr val="231F20"/>
                </a:solidFill>
                <a:latin typeface="Gill Sans"/>
              </a:rPr>
              <a:t>360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, 186</a:t>
            </a:r>
            <a:endParaRPr lang="en-US" sz="1600" dirty="0">
              <a:latin typeface="Gill San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8E28D5-B0FA-F784-036C-056C11C48490}"/>
              </a:ext>
            </a:extLst>
          </p:cNvPr>
          <p:cNvSpPr txBox="1"/>
          <p:nvPr/>
        </p:nvSpPr>
        <p:spPr>
          <a:xfrm>
            <a:off x="3289097" y="4169603"/>
            <a:ext cx="114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Charge</a:t>
            </a:r>
            <a:endParaRPr lang="es-ES" sz="1600" i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CBDA46-9A57-0BF1-D069-58D54E93C5E8}"/>
              </a:ext>
            </a:extLst>
          </p:cNvPr>
          <p:cNvSpPr txBox="1"/>
          <p:nvPr/>
        </p:nvSpPr>
        <p:spPr>
          <a:xfrm>
            <a:off x="4374354" y="4169603"/>
            <a:ext cx="168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Sterics</a:t>
            </a:r>
            <a:endParaRPr lang="es-ES" sz="1600" i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4740E1-AFDD-A269-5EF4-F891CF34919D}"/>
              </a:ext>
            </a:extLst>
          </p:cNvPr>
          <p:cNvSpPr/>
          <p:nvPr/>
        </p:nvSpPr>
        <p:spPr>
          <a:xfrm>
            <a:off x="5459381" y="4367529"/>
            <a:ext cx="807467" cy="3098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887F25-3FD7-132B-7AE8-EC9384582A1C}"/>
              </a:ext>
            </a:extLst>
          </p:cNvPr>
          <p:cNvSpPr/>
          <p:nvPr/>
        </p:nvSpPr>
        <p:spPr>
          <a:xfrm>
            <a:off x="3230848" y="2833960"/>
            <a:ext cx="100584" cy="3383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3B57D-9200-D7CE-6420-1A1386C55728}"/>
              </a:ext>
            </a:extLst>
          </p:cNvPr>
          <p:cNvSpPr txBox="1"/>
          <p:nvPr/>
        </p:nvSpPr>
        <p:spPr>
          <a:xfrm>
            <a:off x="3365685" y="2871803"/>
            <a:ext cx="261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Molecular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CF1FD9-CF1B-BF92-51BC-DEBF7F9F2DEF}"/>
              </a:ext>
            </a:extLst>
          </p:cNvPr>
          <p:cNvSpPr txBox="1"/>
          <p:nvPr/>
        </p:nvSpPr>
        <p:spPr>
          <a:xfrm>
            <a:off x="3365685" y="3785465"/>
            <a:ext cx="261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 err="1"/>
              <a:t>Atomic</a:t>
            </a:r>
            <a:r>
              <a:rPr lang="es-ES" i="1" dirty="0"/>
              <a:t>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B35D5C2-0A55-22E1-8839-F48B26394A10}"/>
              </a:ext>
            </a:extLst>
          </p:cNvPr>
          <p:cNvSpPr txBox="1"/>
          <p:nvPr/>
        </p:nvSpPr>
        <p:spPr>
          <a:xfrm>
            <a:off x="3365685" y="4631391"/>
            <a:ext cx="284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Material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216FA1-09AD-94F0-05A5-6ACEDCF7E854}"/>
              </a:ext>
            </a:extLst>
          </p:cNvPr>
          <p:cNvSpPr txBox="1"/>
          <p:nvPr/>
        </p:nvSpPr>
        <p:spPr>
          <a:xfrm>
            <a:off x="3365685" y="5511185"/>
            <a:ext cx="284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 err="1"/>
              <a:t>Process</a:t>
            </a:r>
            <a:r>
              <a:rPr lang="es-ES" i="1" dirty="0"/>
              <a:t>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2D7ED8-8056-A016-00EF-0287661F8FAB}"/>
              </a:ext>
            </a:extLst>
          </p:cNvPr>
          <p:cNvSpPr txBox="1"/>
          <p:nvPr/>
        </p:nvSpPr>
        <p:spPr>
          <a:xfrm>
            <a:off x="3251753" y="3268457"/>
            <a:ext cx="26113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Solubility</a:t>
            </a:r>
            <a:endParaRPr lang="es-ES" sz="1600" i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2CE0CBE-423A-9098-C2B4-9360F8213B0B}"/>
              </a:ext>
            </a:extLst>
          </p:cNvPr>
          <p:cNvSpPr txBox="1"/>
          <p:nvPr/>
        </p:nvSpPr>
        <p:spPr>
          <a:xfrm>
            <a:off x="4633279" y="3268457"/>
            <a:ext cx="114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m.p</a:t>
            </a:r>
            <a:r>
              <a:rPr lang="es-ES" sz="1600" i="1" dirty="0"/>
              <a:t>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277AD16-2CFF-4C75-896A-62411CBA1767}"/>
              </a:ext>
            </a:extLst>
          </p:cNvPr>
          <p:cNvSpPr txBox="1"/>
          <p:nvPr/>
        </p:nvSpPr>
        <p:spPr>
          <a:xfrm>
            <a:off x="3280937" y="5018489"/>
            <a:ext cx="2868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Component</a:t>
            </a:r>
            <a:r>
              <a:rPr lang="es-ES" sz="1600" i="1" dirty="0"/>
              <a:t> ratio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E0F75E-8F88-2867-2311-C1556FE76EE1}"/>
              </a:ext>
            </a:extLst>
          </p:cNvPr>
          <p:cNvSpPr txBox="1"/>
          <p:nvPr/>
        </p:nvSpPr>
        <p:spPr>
          <a:xfrm>
            <a:off x="3294800" y="5867375"/>
            <a:ext cx="16581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Temperature</a:t>
            </a:r>
            <a:endParaRPr lang="es-ES" sz="1600" i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659154-A897-2D5A-1BC1-4FC09F612E83}"/>
              </a:ext>
            </a:extLst>
          </p:cNvPr>
          <p:cNvSpPr txBox="1"/>
          <p:nvPr/>
        </p:nvSpPr>
        <p:spPr>
          <a:xfrm>
            <a:off x="4796509" y="5867375"/>
            <a:ext cx="1180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Pressure</a:t>
            </a:r>
            <a:endParaRPr lang="es-ES" sz="1600" i="1" dirty="0"/>
          </a:p>
        </p:txBody>
      </p:sp>
    </p:spTree>
    <p:extLst>
      <p:ext uri="{BB962C8B-B14F-4D97-AF65-F5344CB8AC3E}">
        <p14:creationId xmlns:p14="http://schemas.microsoft.com/office/powerpoint/2010/main" val="654790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BF0AD40-1901-30CF-6C02-A9868189F21D}"/>
              </a:ext>
            </a:extLst>
          </p:cNvPr>
          <p:cNvSpPr/>
          <p:nvPr/>
        </p:nvSpPr>
        <p:spPr>
          <a:xfrm>
            <a:off x="7615654" y="2739733"/>
            <a:ext cx="4221009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47D84035-6244-DA9A-CE95-760BD8BF060E}"/>
              </a:ext>
            </a:extLst>
          </p:cNvPr>
          <p:cNvSpPr>
            <a:spLocks/>
          </p:cNvSpPr>
          <p:nvPr/>
        </p:nvSpPr>
        <p:spPr bwMode="auto">
          <a:xfrm>
            <a:off x="355336" y="1443489"/>
            <a:ext cx="63665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How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does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machine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learning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work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>
                <a:solidFill>
                  <a:srgbClr val="C00000"/>
                </a:solidFill>
                <a:latin typeface="Gill Sans" charset="0"/>
                <a:cs typeface="Gill Sans" charset="0"/>
                <a:sym typeface="Gill Sans" charset="0"/>
              </a:rPr>
              <a:t>in </a:t>
            </a:r>
            <a:r>
              <a:rPr lang="es-ES" sz="2400" b="1" dirty="0" err="1">
                <a:solidFill>
                  <a:srgbClr val="C00000"/>
                </a:solidFill>
                <a:latin typeface="Gill Sans" charset="0"/>
                <a:cs typeface="Gill Sans" charset="0"/>
                <a:sym typeface="Gill Sans" charset="0"/>
              </a:rPr>
              <a:t>chemistry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536E5-7EB5-46E0-3578-57928A88B8DB}"/>
              </a:ext>
            </a:extLst>
          </p:cNvPr>
          <p:cNvSpPr txBox="1"/>
          <p:nvPr/>
        </p:nvSpPr>
        <p:spPr>
          <a:xfrm>
            <a:off x="355337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in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234D252-8AAE-3B0D-5319-9E94223C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16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3EAF1146-72E4-3179-FD5B-72A28B066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E2EEDC-A3DC-C3C7-FE78-F43C2539EB87}"/>
              </a:ext>
            </a:extLst>
          </p:cNvPr>
          <p:cNvSpPr txBox="1"/>
          <p:nvPr/>
        </p:nvSpPr>
        <p:spPr>
          <a:xfrm>
            <a:off x="7631885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out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92B82E-C2F5-F171-541F-9FB71C646182}"/>
              </a:ext>
            </a:extLst>
          </p:cNvPr>
          <p:cNvSpPr/>
          <p:nvPr/>
        </p:nvSpPr>
        <p:spPr>
          <a:xfrm>
            <a:off x="355336" y="2739733"/>
            <a:ext cx="5740663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E65F28-CC0C-B436-0AD6-18B7BE996935}"/>
              </a:ext>
            </a:extLst>
          </p:cNvPr>
          <p:cNvSpPr/>
          <p:nvPr/>
        </p:nvSpPr>
        <p:spPr>
          <a:xfrm>
            <a:off x="6266850" y="3968479"/>
            <a:ext cx="1177953" cy="1255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Machine Learning Icon - Free PNG &amp; SVG 2010152 - Noun Project">
            <a:extLst>
              <a:ext uri="{FF2B5EF4-FFF2-40B4-BE49-F238E27FC236}">
                <a16:creationId xmlns:a16="http://schemas.microsoft.com/office/drawing/2014/main" id="{65AA4A83-A9FE-5A2B-0453-C1FEB9E7C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275" y="3968479"/>
            <a:ext cx="1109101" cy="110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7C2640B-13B7-E7E1-5326-16E334DA1A1C}"/>
              </a:ext>
            </a:extLst>
          </p:cNvPr>
          <p:cNvSpPr txBox="1"/>
          <p:nvPr/>
        </p:nvSpPr>
        <p:spPr>
          <a:xfrm>
            <a:off x="6172830" y="2827226"/>
            <a:ext cx="1366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Design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an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effective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catalyst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4CD5CA-73EE-B374-9EA9-B81824B69694}"/>
              </a:ext>
            </a:extLst>
          </p:cNvPr>
          <p:cNvSpPr txBox="1"/>
          <p:nvPr/>
        </p:nvSpPr>
        <p:spPr>
          <a:xfrm>
            <a:off x="6162124" y="5322807"/>
            <a:ext cx="1366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Design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an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optimal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solar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cell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13FC6D-715B-1C7F-9DDB-B6CA30AD21C1}"/>
              </a:ext>
            </a:extLst>
          </p:cNvPr>
          <p:cNvSpPr txBox="1"/>
          <p:nvPr/>
        </p:nvSpPr>
        <p:spPr>
          <a:xfrm>
            <a:off x="10003128" y="2862835"/>
            <a:ext cx="1901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i="1" dirty="0" err="1"/>
              <a:t>Predicted</a:t>
            </a:r>
            <a:r>
              <a:rPr lang="es-ES" i="1" dirty="0"/>
              <a:t> </a:t>
            </a:r>
            <a:r>
              <a:rPr lang="es-ES" i="1" dirty="0" err="1"/>
              <a:t>yield</a:t>
            </a:r>
            <a:r>
              <a:rPr lang="es-ES" i="1" dirty="0"/>
              <a:t>: 92%</a:t>
            </a:r>
            <a:endParaRPr lang="en-US" i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55780C-52E2-5F77-9DFC-2B698CE80DF7}"/>
              </a:ext>
            </a:extLst>
          </p:cNvPr>
          <p:cNvSpPr/>
          <p:nvPr/>
        </p:nvSpPr>
        <p:spPr>
          <a:xfrm>
            <a:off x="7821411" y="2973816"/>
            <a:ext cx="100654" cy="12663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7A527C8-2B29-9EB0-E44F-6D6C3F5F4AF3}"/>
              </a:ext>
            </a:extLst>
          </p:cNvPr>
          <p:cNvSpPr/>
          <p:nvPr/>
        </p:nvSpPr>
        <p:spPr>
          <a:xfrm>
            <a:off x="7444800" y="4208705"/>
            <a:ext cx="692759" cy="62865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905669C-05D7-9134-9C2D-20E50D7B97E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373" t="4427" r="9720" b="2241"/>
          <a:stretch/>
        </p:blipFill>
        <p:spPr>
          <a:xfrm>
            <a:off x="564202" y="3122730"/>
            <a:ext cx="2449319" cy="2812256"/>
          </a:xfrm>
          <a:prstGeom prst="rect">
            <a:avLst/>
          </a:prstGeom>
          <a:ln w="12700">
            <a:solidFill>
              <a:srgbClr val="555390"/>
            </a:solidFill>
          </a:ln>
        </p:spPr>
      </p:pic>
      <p:graphicFrame>
        <p:nvGraphicFramePr>
          <p:cNvPr id="38" name="Object 37">
            <a:extLst>
              <a:ext uri="{FF2B5EF4-FFF2-40B4-BE49-F238E27FC236}">
                <a16:creationId xmlns:a16="http://schemas.microsoft.com/office/drawing/2014/main" id="{83F56865-B871-82F7-C55B-5ECA3AD9D0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41865" y="2947018"/>
          <a:ext cx="3014471" cy="1772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7" imgW="2214053" imgH="1321049" progId="ChemDraw.Document.6.0">
                  <p:embed/>
                </p:oleObj>
              </mc:Choice>
              <mc:Fallback>
                <p:oleObj name="CS ChemDraw Drawing" r:id="rId7" imgW="2214053" imgH="1321049" progId="ChemDraw.Document.6.0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83F56865-B871-82F7-C55B-5ECA3AD9D0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41865" y="2947018"/>
                        <a:ext cx="3014471" cy="17728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A3A911B7-9B0C-95E6-0040-B8CA27467880}"/>
              </a:ext>
            </a:extLst>
          </p:cNvPr>
          <p:cNvSpPr txBox="1"/>
          <p:nvPr/>
        </p:nvSpPr>
        <p:spPr>
          <a:xfrm>
            <a:off x="93133" y="6439763"/>
            <a:ext cx="2358721" cy="34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b="0" i="1" u="none" strike="noStrike" baseline="0" dirty="0">
                <a:solidFill>
                  <a:srgbClr val="231F20"/>
                </a:solidFill>
                <a:latin typeface="Gill Sans"/>
              </a:rPr>
              <a:t>Science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 </a:t>
            </a:r>
            <a:r>
              <a:rPr lang="en-US" sz="1600" b="1" i="0" u="none" strike="noStrike" baseline="0" dirty="0">
                <a:solidFill>
                  <a:srgbClr val="231F20"/>
                </a:solidFill>
                <a:latin typeface="Gill Sans"/>
              </a:rPr>
              <a:t>2018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, </a:t>
            </a:r>
            <a:r>
              <a:rPr lang="en-US" sz="1600" b="0" i="1" u="none" strike="noStrike" baseline="0" dirty="0">
                <a:solidFill>
                  <a:srgbClr val="231F20"/>
                </a:solidFill>
                <a:latin typeface="Gill Sans"/>
              </a:rPr>
              <a:t>360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, 186</a:t>
            </a:r>
            <a:endParaRPr lang="en-US" sz="1600" dirty="0">
              <a:latin typeface="Gill San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D2CAAE-7DD7-6E6A-16B3-3393DC8D1FCF}"/>
              </a:ext>
            </a:extLst>
          </p:cNvPr>
          <p:cNvSpPr txBox="1"/>
          <p:nvPr/>
        </p:nvSpPr>
        <p:spPr>
          <a:xfrm>
            <a:off x="3289097" y="4169603"/>
            <a:ext cx="114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Charge</a:t>
            </a:r>
            <a:endParaRPr lang="es-ES" sz="1600" i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6EA142-9534-2A1D-1325-56397A5E49F4}"/>
              </a:ext>
            </a:extLst>
          </p:cNvPr>
          <p:cNvSpPr txBox="1"/>
          <p:nvPr/>
        </p:nvSpPr>
        <p:spPr>
          <a:xfrm>
            <a:off x="4374354" y="4169603"/>
            <a:ext cx="168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Sterics</a:t>
            </a:r>
            <a:endParaRPr lang="es-ES" sz="1600" i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C5D0DA-317D-A626-F49E-98279216F194}"/>
              </a:ext>
            </a:extLst>
          </p:cNvPr>
          <p:cNvSpPr/>
          <p:nvPr/>
        </p:nvSpPr>
        <p:spPr>
          <a:xfrm>
            <a:off x="5459381" y="4367529"/>
            <a:ext cx="807467" cy="3098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3BC401-78C9-96B9-A2D3-BBF68DDDA89D}"/>
              </a:ext>
            </a:extLst>
          </p:cNvPr>
          <p:cNvSpPr/>
          <p:nvPr/>
        </p:nvSpPr>
        <p:spPr>
          <a:xfrm>
            <a:off x="3230848" y="2833960"/>
            <a:ext cx="100584" cy="3383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C4B4FFD-9A9D-CA41-7446-C50085717305}"/>
              </a:ext>
            </a:extLst>
          </p:cNvPr>
          <p:cNvSpPr txBox="1"/>
          <p:nvPr/>
        </p:nvSpPr>
        <p:spPr>
          <a:xfrm>
            <a:off x="3365685" y="2871803"/>
            <a:ext cx="261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Molecular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1B0428F-AC85-C349-FEC8-1193E1B67DC1}"/>
              </a:ext>
            </a:extLst>
          </p:cNvPr>
          <p:cNvSpPr txBox="1"/>
          <p:nvPr/>
        </p:nvSpPr>
        <p:spPr>
          <a:xfrm>
            <a:off x="3365685" y="3785465"/>
            <a:ext cx="261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 err="1"/>
              <a:t>Atomic</a:t>
            </a:r>
            <a:r>
              <a:rPr lang="es-ES" i="1" dirty="0"/>
              <a:t>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F0E719-A2CD-6B4D-228B-B2E7C482BD5A}"/>
              </a:ext>
            </a:extLst>
          </p:cNvPr>
          <p:cNvSpPr txBox="1"/>
          <p:nvPr/>
        </p:nvSpPr>
        <p:spPr>
          <a:xfrm>
            <a:off x="3365685" y="4631391"/>
            <a:ext cx="284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Material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83741B-A0B5-1F14-691F-0883492DF790}"/>
              </a:ext>
            </a:extLst>
          </p:cNvPr>
          <p:cNvSpPr txBox="1"/>
          <p:nvPr/>
        </p:nvSpPr>
        <p:spPr>
          <a:xfrm>
            <a:off x="3365685" y="5511185"/>
            <a:ext cx="284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 err="1"/>
              <a:t>Process</a:t>
            </a:r>
            <a:r>
              <a:rPr lang="es-ES" i="1" dirty="0"/>
              <a:t>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79B9C1-F8B0-9834-0132-744963DACCB1}"/>
              </a:ext>
            </a:extLst>
          </p:cNvPr>
          <p:cNvSpPr txBox="1"/>
          <p:nvPr/>
        </p:nvSpPr>
        <p:spPr>
          <a:xfrm>
            <a:off x="3251753" y="3268457"/>
            <a:ext cx="26113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Solubility</a:t>
            </a:r>
            <a:endParaRPr lang="es-ES" sz="1600" i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1158A61-0FAC-EB98-4FC3-ED1314CD2455}"/>
              </a:ext>
            </a:extLst>
          </p:cNvPr>
          <p:cNvSpPr txBox="1"/>
          <p:nvPr/>
        </p:nvSpPr>
        <p:spPr>
          <a:xfrm>
            <a:off x="4633279" y="3268457"/>
            <a:ext cx="114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m.p</a:t>
            </a:r>
            <a:r>
              <a:rPr lang="es-ES" sz="1600" i="1" dirty="0"/>
              <a:t>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6FEC90-2989-191F-63A8-9569AEF32EA7}"/>
              </a:ext>
            </a:extLst>
          </p:cNvPr>
          <p:cNvSpPr txBox="1"/>
          <p:nvPr/>
        </p:nvSpPr>
        <p:spPr>
          <a:xfrm>
            <a:off x="3280937" y="5018489"/>
            <a:ext cx="2868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Component</a:t>
            </a:r>
            <a:r>
              <a:rPr lang="es-ES" sz="1600" i="1" dirty="0"/>
              <a:t> ratio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2C7CDB-CB91-6D2A-CDAF-688331614B6C}"/>
              </a:ext>
            </a:extLst>
          </p:cNvPr>
          <p:cNvSpPr txBox="1"/>
          <p:nvPr/>
        </p:nvSpPr>
        <p:spPr>
          <a:xfrm>
            <a:off x="3294800" y="5867375"/>
            <a:ext cx="16581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Temperature</a:t>
            </a:r>
            <a:endParaRPr lang="es-ES" sz="1600" i="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0B2DE83-75AD-FF12-1F80-7E0397CAF54F}"/>
              </a:ext>
            </a:extLst>
          </p:cNvPr>
          <p:cNvSpPr txBox="1"/>
          <p:nvPr/>
        </p:nvSpPr>
        <p:spPr>
          <a:xfrm>
            <a:off x="4796509" y="5867375"/>
            <a:ext cx="1180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Pressure</a:t>
            </a:r>
            <a:endParaRPr lang="es-ES" sz="1600" i="1" dirty="0"/>
          </a:p>
        </p:txBody>
      </p:sp>
    </p:spTree>
    <p:extLst>
      <p:ext uri="{BB962C8B-B14F-4D97-AF65-F5344CB8AC3E}">
        <p14:creationId xmlns:p14="http://schemas.microsoft.com/office/powerpoint/2010/main" val="1843860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B37B6792-3958-32FD-A019-C2170E924F6E}"/>
              </a:ext>
            </a:extLst>
          </p:cNvPr>
          <p:cNvSpPr txBox="1"/>
          <p:nvPr/>
        </p:nvSpPr>
        <p:spPr>
          <a:xfrm>
            <a:off x="3289097" y="4169603"/>
            <a:ext cx="114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Charge</a:t>
            </a:r>
            <a:endParaRPr lang="es-ES" sz="1600" i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1A2748-D3D1-F465-94A9-9B1BC9A09059}"/>
              </a:ext>
            </a:extLst>
          </p:cNvPr>
          <p:cNvSpPr txBox="1"/>
          <p:nvPr/>
        </p:nvSpPr>
        <p:spPr>
          <a:xfrm>
            <a:off x="4374354" y="4169603"/>
            <a:ext cx="1688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Sterics</a:t>
            </a:r>
            <a:endParaRPr lang="es-ES" sz="1600" i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F0AD40-1901-30CF-6C02-A9868189F21D}"/>
              </a:ext>
            </a:extLst>
          </p:cNvPr>
          <p:cNvSpPr/>
          <p:nvPr/>
        </p:nvSpPr>
        <p:spPr>
          <a:xfrm>
            <a:off x="7615654" y="2739733"/>
            <a:ext cx="4221009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47D84035-6244-DA9A-CE95-760BD8BF060E}"/>
              </a:ext>
            </a:extLst>
          </p:cNvPr>
          <p:cNvSpPr>
            <a:spLocks/>
          </p:cNvSpPr>
          <p:nvPr/>
        </p:nvSpPr>
        <p:spPr bwMode="auto">
          <a:xfrm>
            <a:off x="355336" y="1443489"/>
            <a:ext cx="63665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How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does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machine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learning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work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>
                <a:solidFill>
                  <a:srgbClr val="C00000"/>
                </a:solidFill>
                <a:latin typeface="Gill Sans" charset="0"/>
                <a:cs typeface="Gill Sans" charset="0"/>
                <a:sym typeface="Gill Sans" charset="0"/>
              </a:rPr>
              <a:t>in </a:t>
            </a:r>
            <a:r>
              <a:rPr lang="es-ES" sz="2400" b="1" dirty="0" err="1">
                <a:solidFill>
                  <a:srgbClr val="C00000"/>
                </a:solidFill>
                <a:latin typeface="Gill Sans" charset="0"/>
                <a:cs typeface="Gill Sans" charset="0"/>
                <a:sym typeface="Gill Sans" charset="0"/>
              </a:rPr>
              <a:t>chemistry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7536E5-7EB5-46E0-3578-57928A88B8DB}"/>
              </a:ext>
            </a:extLst>
          </p:cNvPr>
          <p:cNvSpPr txBox="1"/>
          <p:nvPr/>
        </p:nvSpPr>
        <p:spPr>
          <a:xfrm>
            <a:off x="355337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in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C234D252-8AAE-3B0D-5319-9E94223C1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17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3EAF1146-72E4-3179-FD5B-72A28B066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E2EEDC-A3DC-C3C7-FE78-F43C2539EB87}"/>
              </a:ext>
            </a:extLst>
          </p:cNvPr>
          <p:cNvSpPr txBox="1"/>
          <p:nvPr/>
        </p:nvSpPr>
        <p:spPr>
          <a:xfrm>
            <a:off x="7631885" y="2178969"/>
            <a:ext cx="13134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2400" i="1" dirty="0">
                <a:latin typeface="Gill Sans"/>
              </a:rPr>
              <a:t>Data out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92B82E-C2F5-F171-541F-9FB71C646182}"/>
              </a:ext>
            </a:extLst>
          </p:cNvPr>
          <p:cNvSpPr/>
          <p:nvPr/>
        </p:nvSpPr>
        <p:spPr>
          <a:xfrm>
            <a:off x="355336" y="2739733"/>
            <a:ext cx="5740663" cy="35772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E65F28-CC0C-B436-0AD6-18B7BE996935}"/>
              </a:ext>
            </a:extLst>
          </p:cNvPr>
          <p:cNvSpPr/>
          <p:nvPr/>
        </p:nvSpPr>
        <p:spPr>
          <a:xfrm>
            <a:off x="6266850" y="3968479"/>
            <a:ext cx="1177953" cy="12550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0" name="Picture 6" descr="Machine Learning Icon - Free PNG &amp; SVG 2010152 - Noun Project">
            <a:extLst>
              <a:ext uri="{FF2B5EF4-FFF2-40B4-BE49-F238E27FC236}">
                <a16:creationId xmlns:a16="http://schemas.microsoft.com/office/drawing/2014/main" id="{65AA4A83-A9FE-5A2B-0453-C1FEB9E7C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275" y="3968479"/>
            <a:ext cx="1109101" cy="110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B3520EB-1AA3-8F68-9A91-B46887846259}"/>
              </a:ext>
            </a:extLst>
          </p:cNvPr>
          <p:cNvSpPr/>
          <p:nvPr/>
        </p:nvSpPr>
        <p:spPr>
          <a:xfrm>
            <a:off x="5459381" y="4367529"/>
            <a:ext cx="807467" cy="3098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0E824E-C573-E14C-AD8C-098C8D75FDE3}"/>
              </a:ext>
            </a:extLst>
          </p:cNvPr>
          <p:cNvSpPr/>
          <p:nvPr/>
        </p:nvSpPr>
        <p:spPr>
          <a:xfrm>
            <a:off x="3230848" y="2833960"/>
            <a:ext cx="100584" cy="3383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314AC9-29DA-971F-A7A1-0283CAC25DA7}"/>
              </a:ext>
            </a:extLst>
          </p:cNvPr>
          <p:cNvSpPr txBox="1"/>
          <p:nvPr/>
        </p:nvSpPr>
        <p:spPr>
          <a:xfrm>
            <a:off x="3365685" y="2871803"/>
            <a:ext cx="261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Molecular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C2640B-13B7-E7E1-5326-16E334DA1A1C}"/>
              </a:ext>
            </a:extLst>
          </p:cNvPr>
          <p:cNvSpPr txBox="1"/>
          <p:nvPr/>
        </p:nvSpPr>
        <p:spPr>
          <a:xfrm>
            <a:off x="6172830" y="2827226"/>
            <a:ext cx="1366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Design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an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effective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catalyst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4CD5CA-73EE-B374-9EA9-B81824B69694}"/>
              </a:ext>
            </a:extLst>
          </p:cNvPr>
          <p:cNvSpPr txBox="1"/>
          <p:nvPr/>
        </p:nvSpPr>
        <p:spPr>
          <a:xfrm>
            <a:off x="6162124" y="5322807"/>
            <a:ext cx="1366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Design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an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optimal</a:t>
            </a:r>
            <a:r>
              <a:rPr lang="es-ES" dirty="0">
                <a:solidFill>
                  <a:schemeClr val="accent1">
                    <a:lumMod val="50000"/>
                  </a:schemeClr>
                </a:solidFill>
              </a:rPr>
              <a:t> solar </a:t>
            </a:r>
            <a:r>
              <a:rPr lang="es-ES" dirty="0" err="1">
                <a:solidFill>
                  <a:schemeClr val="accent1">
                    <a:lumMod val="50000"/>
                  </a:schemeClr>
                </a:solidFill>
              </a:rPr>
              <a:t>cell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13FC6D-715B-1C7F-9DDB-B6CA30AD21C1}"/>
              </a:ext>
            </a:extLst>
          </p:cNvPr>
          <p:cNvSpPr txBox="1"/>
          <p:nvPr/>
        </p:nvSpPr>
        <p:spPr>
          <a:xfrm>
            <a:off x="10003128" y="2862835"/>
            <a:ext cx="1901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i="1" dirty="0" err="1"/>
              <a:t>Predicted</a:t>
            </a:r>
            <a:r>
              <a:rPr lang="es-ES" i="1" dirty="0"/>
              <a:t> </a:t>
            </a:r>
            <a:r>
              <a:rPr lang="es-ES" i="1" dirty="0" err="1"/>
              <a:t>yield</a:t>
            </a:r>
            <a:r>
              <a:rPr lang="es-ES" i="1" dirty="0"/>
              <a:t>: 92%</a:t>
            </a:r>
            <a:endParaRPr lang="en-US" i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55780C-52E2-5F77-9DFC-2B698CE80DF7}"/>
              </a:ext>
            </a:extLst>
          </p:cNvPr>
          <p:cNvSpPr/>
          <p:nvPr/>
        </p:nvSpPr>
        <p:spPr>
          <a:xfrm>
            <a:off x="7821411" y="2973816"/>
            <a:ext cx="100654" cy="12663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7A527C8-2B29-9EB0-E44F-6D6C3F5F4AF3}"/>
              </a:ext>
            </a:extLst>
          </p:cNvPr>
          <p:cNvSpPr/>
          <p:nvPr/>
        </p:nvSpPr>
        <p:spPr>
          <a:xfrm>
            <a:off x="7444800" y="4208705"/>
            <a:ext cx="692759" cy="62865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06DAEC-6279-5063-02F4-AD886A2A740D}"/>
              </a:ext>
            </a:extLst>
          </p:cNvPr>
          <p:cNvSpPr txBox="1"/>
          <p:nvPr/>
        </p:nvSpPr>
        <p:spPr>
          <a:xfrm>
            <a:off x="8168600" y="5053291"/>
            <a:ext cx="3776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20% </a:t>
            </a:r>
            <a:r>
              <a:rPr lang="es-ES" dirty="0" err="1"/>
              <a:t>graphene</a:t>
            </a:r>
            <a:r>
              <a:rPr lang="es-ES" dirty="0"/>
              <a:t> + 40% Si + 40% </a:t>
            </a:r>
            <a:r>
              <a:rPr lang="en-US" dirty="0"/>
              <a:t>GaAs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FAB74B-18F4-275D-005B-83AC209368F1}"/>
              </a:ext>
            </a:extLst>
          </p:cNvPr>
          <p:cNvSpPr/>
          <p:nvPr/>
        </p:nvSpPr>
        <p:spPr>
          <a:xfrm>
            <a:off x="7821411" y="4878610"/>
            <a:ext cx="100654" cy="12663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B4D7A1-3E8F-C1A3-AB56-6888F9490CBB}"/>
              </a:ext>
            </a:extLst>
          </p:cNvPr>
          <p:cNvSpPr txBox="1"/>
          <p:nvPr/>
        </p:nvSpPr>
        <p:spPr>
          <a:xfrm>
            <a:off x="3365685" y="3785465"/>
            <a:ext cx="261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 err="1"/>
              <a:t>Atomic</a:t>
            </a:r>
            <a:r>
              <a:rPr lang="es-ES" i="1" dirty="0"/>
              <a:t>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82FF73-6591-E6AA-B067-6C4908B40B5A}"/>
              </a:ext>
            </a:extLst>
          </p:cNvPr>
          <p:cNvSpPr txBox="1"/>
          <p:nvPr/>
        </p:nvSpPr>
        <p:spPr>
          <a:xfrm>
            <a:off x="3365685" y="4631391"/>
            <a:ext cx="284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/>
              <a:t>Material </a:t>
            </a:r>
            <a:r>
              <a:rPr lang="es-ES" i="1" dirty="0" err="1"/>
              <a:t>properties</a:t>
            </a:r>
            <a:endParaRPr lang="es-ES" i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A8CD15-142F-6EB3-E5B0-0AFFA9FC06B1}"/>
              </a:ext>
            </a:extLst>
          </p:cNvPr>
          <p:cNvSpPr txBox="1"/>
          <p:nvPr/>
        </p:nvSpPr>
        <p:spPr>
          <a:xfrm>
            <a:off x="3365685" y="5511185"/>
            <a:ext cx="284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i="1" dirty="0" err="1"/>
              <a:t>Process</a:t>
            </a:r>
            <a:r>
              <a:rPr lang="es-ES" i="1" dirty="0"/>
              <a:t> </a:t>
            </a:r>
            <a:r>
              <a:rPr lang="es-ES" i="1" dirty="0" err="1"/>
              <a:t>properties</a:t>
            </a:r>
            <a:endParaRPr lang="es-ES" i="1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905669C-05D7-9134-9C2D-20E50D7B97E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0373" t="4427" r="9720" b="2241"/>
          <a:stretch/>
        </p:blipFill>
        <p:spPr>
          <a:xfrm>
            <a:off x="564202" y="3122730"/>
            <a:ext cx="2449319" cy="2812256"/>
          </a:xfrm>
          <a:prstGeom prst="rect">
            <a:avLst/>
          </a:prstGeom>
          <a:ln w="12700">
            <a:solidFill>
              <a:srgbClr val="555390"/>
            </a:solidFill>
          </a:ln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1D461AB-1EA0-3E73-7D70-AF73CB123188}"/>
              </a:ext>
            </a:extLst>
          </p:cNvPr>
          <p:cNvSpPr txBox="1"/>
          <p:nvPr/>
        </p:nvSpPr>
        <p:spPr>
          <a:xfrm>
            <a:off x="3251753" y="3268457"/>
            <a:ext cx="26113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Solubility</a:t>
            </a:r>
            <a:endParaRPr lang="es-ES" sz="1600" i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7F38A3-E2E0-B348-12A3-A68EC55CC9DF}"/>
              </a:ext>
            </a:extLst>
          </p:cNvPr>
          <p:cNvSpPr txBox="1"/>
          <p:nvPr/>
        </p:nvSpPr>
        <p:spPr>
          <a:xfrm>
            <a:off x="4633279" y="3268457"/>
            <a:ext cx="11409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m.p</a:t>
            </a:r>
            <a:r>
              <a:rPr lang="es-ES" sz="1600" i="1" dirty="0"/>
              <a:t>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02AF3C-6136-7E8F-6CE3-838995F8D1CB}"/>
              </a:ext>
            </a:extLst>
          </p:cNvPr>
          <p:cNvSpPr txBox="1"/>
          <p:nvPr/>
        </p:nvSpPr>
        <p:spPr>
          <a:xfrm>
            <a:off x="3280937" y="5018489"/>
            <a:ext cx="28683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Component</a:t>
            </a:r>
            <a:r>
              <a:rPr lang="es-ES" sz="1600" i="1" dirty="0"/>
              <a:t> ratio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65956A-A7A7-640D-2CE3-E094ACFC5A57}"/>
              </a:ext>
            </a:extLst>
          </p:cNvPr>
          <p:cNvSpPr txBox="1"/>
          <p:nvPr/>
        </p:nvSpPr>
        <p:spPr>
          <a:xfrm>
            <a:off x="3294800" y="5867375"/>
            <a:ext cx="16581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Temperature</a:t>
            </a:r>
            <a:endParaRPr lang="es-ES" sz="1600" i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9C8075-5B21-B8CA-F3CB-11DF675DD60C}"/>
              </a:ext>
            </a:extLst>
          </p:cNvPr>
          <p:cNvSpPr txBox="1"/>
          <p:nvPr/>
        </p:nvSpPr>
        <p:spPr>
          <a:xfrm>
            <a:off x="4796509" y="5867375"/>
            <a:ext cx="1180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66688">
              <a:buClr>
                <a:srgbClr val="555390"/>
              </a:buClr>
              <a:buSzPct val="80000"/>
              <a:buFont typeface="Wingdings" panose="05000000000000000000" pitchFamily="2" charset="2"/>
              <a:buChar char="§"/>
            </a:pPr>
            <a:r>
              <a:rPr lang="es-ES" sz="1600" i="1" dirty="0" err="1"/>
              <a:t>Pressure</a:t>
            </a:r>
            <a:endParaRPr lang="es-ES" sz="1600" i="1" dirty="0"/>
          </a:p>
        </p:txBody>
      </p:sp>
      <p:graphicFrame>
        <p:nvGraphicFramePr>
          <p:cNvPr id="38" name="Object 37">
            <a:extLst>
              <a:ext uri="{FF2B5EF4-FFF2-40B4-BE49-F238E27FC236}">
                <a16:creationId xmlns:a16="http://schemas.microsoft.com/office/drawing/2014/main" id="{83F56865-B871-82F7-C55B-5ECA3AD9D0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41865" y="2947018"/>
          <a:ext cx="3014471" cy="1772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7" imgW="2214053" imgH="1321049" progId="ChemDraw.Document.6.0">
                  <p:embed/>
                </p:oleObj>
              </mc:Choice>
              <mc:Fallback>
                <p:oleObj name="CS ChemDraw Drawing" r:id="rId7" imgW="2214053" imgH="1321049" progId="ChemDraw.Document.6.0">
                  <p:embed/>
                  <p:pic>
                    <p:nvPicPr>
                      <p:cNvPr id="38" name="Object 37">
                        <a:extLst>
                          <a:ext uri="{FF2B5EF4-FFF2-40B4-BE49-F238E27FC236}">
                            <a16:creationId xmlns:a16="http://schemas.microsoft.com/office/drawing/2014/main" id="{83F56865-B871-82F7-C55B-5ECA3AD9D0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41865" y="2947018"/>
                        <a:ext cx="3014471" cy="17728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Box 40">
            <a:extLst>
              <a:ext uri="{FF2B5EF4-FFF2-40B4-BE49-F238E27FC236}">
                <a16:creationId xmlns:a16="http://schemas.microsoft.com/office/drawing/2014/main" id="{D0E37FFA-CD57-C9DA-9246-821F66E0277B}"/>
              </a:ext>
            </a:extLst>
          </p:cNvPr>
          <p:cNvSpPr txBox="1"/>
          <p:nvPr/>
        </p:nvSpPr>
        <p:spPr>
          <a:xfrm>
            <a:off x="8232365" y="5494192"/>
            <a:ext cx="3104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i="1" dirty="0" err="1"/>
              <a:t>Predicted</a:t>
            </a:r>
            <a:r>
              <a:rPr lang="es-ES" i="1" dirty="0"/>
              <a:t> solar-</a:t>
            </a:r>
            <a:r>
              <a:rPr lang="es-ES" i="1" dirty="0" err="1"/>
              <a:t>cell</a:t>
            </a:r>
            <a:r>
              <a:rPr lang="es-ES" i="1" dirty="0"/>
              <a:t> </a:t>
            </a:r>
            <a:r>
              <a:rPr lang="es-ES" i="1" dirty="0" err="1"/>
              <a:t>efficiency</a:t>
            </a:r>
            <a:r>
              <a:rPr lang="es-ES" i="1" dirty="0"/>
              <a:t>: 21%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1328C1-98F4-0F41-B09E-B6E95B83F05B}"/>
              </a:ext>
            </a:extLst>
          </p:cNvPr>
          <p:cNvSpPr txBox="1"/>
          <p:nvPr/>
        </p:nvSpPr>
        <p:spPr>
          <a:xfrm>
            <a:off x="93133" y="6439763"/>
            <a:ext cx="2358721" cy="342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b="0" i="1" u="none" strike="noStrike" baseline="0" dirty="0">
                <a:solidFill>
                  <a:srgbClr val="231F20"/>
                </a:solidFill>
                <a:latin typeface="Gill Sans"/>
              </a:rPr>
              <a:t>Science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 </a:t>
            </a:r>
            <a:r>
              <a:rPr lang="en-US" sz="1600" b="1" i="0" u="none" strike="noStrike" baseline="0" dirty="0">
                <a:solidFill>
                  <a:srgbClr val="231F20"/>
                </a:solidFill>
                <a:latin typeface="Gill Sans"/>
              </a:rPr>
              <a:t>2018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, </a:t>
            </a:r>
            <a:r>
              <a:rPr lang="en-US" sz="1600" b="0" i="1" u="none" strike="noStrike" baseline="0" dirty="0">
                <a:solidFill>
                  <a:srgbClr val="231F20"/>
                </a:solidFill>
                <a:latin typeface="Gill Sans"/>
              </a:rPr>
              <a:t>360</a:t>
            </a:r>
            <a:r>
              <a:rPr lang="en-US" sz="1600" b="0" i="0" u="none" strike="noStrike" baseline="0" dirty="0">
                <a:solidFill>
                  <a:srgbClr val="231F20"/>
                </a:solidFill>
                <a:latin typeface="Gill Sans"/>
              </a:rPr>
              <a:t>, 186</a:t>
            </a:r>
            <a:endParaRPr lang="en-US" sz="1600" dirty="0">
              <a:latin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2653789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7F079-61D9-3802-6236-098F0A020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99BAA37-E40B-6E2B-D044-CE98817483A6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80050D87-846E-E3BE-C324-DF614C38B3BF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57E689BC-58D6-F373-5D39-EEFF8D1D5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32F492DE-A521-6DAD-16B0-D929DB2D9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18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17F0A787-588C-0992-29BF-A030791B2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62B304D8-F788-087B-6BE5-232081D2DC9A}"/>
              </a:ext>
            </a:extLst>
          </p:cNvPr>
          <p:cNvSpPr>
            <a:spLocks/>
          </p:cNvSpPr>
          <p:nvPr/>
        </p:nvSpPr>
        <p:spPr bwMode="auto">
          <a:xfrm>
            <a:off x="401056" y="1388435"/>
            <a:ext cx="115455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b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First step: digitalization of molecules</a:t>
            </a:r>
            <a:endParaRPr lang="en-US" sz="2400" kern="1050" dirty="0"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A463E2-325D-23A6-4937-9CB90F7473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659" y="2251710"/>
            <a:ext cx="6812681" cy="40549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02C4CAA-6C56-BE1A-8393-5244F628C172}"/>
              </a:ext>
            </a:extLst>
          </p:cNvPr>
          <p:cNvSpPr/>
          <p:nvPr/>
        </p:nvSpPr>
        <p:spPr>
          <a:xfrm>
            <a:off x="2586445" y="4531179"/>
            <a:ext cx="7367451" cy="2039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6F59A8-2291-3F88-5748-1EA09B81AC76}"/>
              </a:ext>
            </a:extLst>
          </p:cNvPr>
          <p:cNvSpPr/>
          <p:nvPr/>
        </p:nvSpPr>
        <p:spPr>
          <a:xfrm>
            <a:off x="6270171" y="3076890"/>
            <a:ext cx="3232170" cy="1920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701DBFF3-869E-3201-5F1F-7E284F585F81}"/>
              </a:ext>
            </a:extLst>
          </p:cNvPr>
          <p:cNvSpPr>
            <a:spLocks/>
          </p:cNvSpPr>
          <p:nvPr/>
        </p:nvSpPr>
        <p:spPr bwMode="auto">
          <a:xfrm>
            <a:off x="285057" y="6293618"/>
            <a:ext cx="230138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i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ACS </a:t>
            </a:r>
            <a:r>
              <a:rPr lang="en-US" i="1" kern="1050" dirty="0" err="1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Catal</a:t>
            </a:r>
            <a:r>
              <a:rPr lang="en-US" i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r>
              <a:rPr lang="en-US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, 1</a:t>
            </a:r>
          </a:p>
        </p:txBody>
      </p:sp>
    </p:spTree>
    <p:extLst>
      <p:ext uri="{BB962C8B-B14F-4D97-AF65-F5344CB8AC3E}">
        <p14:creationId xmlns:p14="http://schemas.microsoft.com/office/powerpoint/2010/main" val="3496987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FCB66-9E86-AADE-4634-ABCFB51F7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B64D634-4BF5-5219-BB0E-95AC9268FEFF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7C9987D5-56B5-F46D-18C9-46CC9A03D85D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0D2095A7-8E58-C222-C0DD-0E15BD239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E686C69-C4DE-2E8C-63B1-C788B18BD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19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523073CA-DBE6-5D34-115A-74085F8EF3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75AE70C3-EE46-2E4C-A92B-D2C276F836B4}"/>
              </a:ext>
            </a:extLst>
          </p:cNvPr>
          <p:cNvSpPr>
            <a:spLocks/>
          </p:cNvSpPr>
          <p:nvPr/>
        </p:nvSpPr>
        <p:spPr bwMode="auto">
          <a:xfrm>
            <a:off x="401056" y="1388435"/>
            <a:ext cx="115455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b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First step: digitalization of molecules</a:t>
            </a:r>
            <a:endParaRPr lang="en-US" sz="2400" kern="1050" dirty="0"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1215721-4E46-EC7E-7573-247A69B3F4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659" y="2251710"/>
            <a:ext cx="6812681" cy="40549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6A1B983-FD21-5BEB-947B-2230CF33993C}"/>
              </a:ext>
            </a:extLst>
          </p:cNvPr>
          <p:cNvSpPr/>
          <p:nvPr/>
        </p:nvSpPr>
        <p:spPr>
          <a:xfrm>
            <a:off x="2586445" y="4531179"/>
            <a:ext cx="7367451" cy="2039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208189C-05B3-37F5-55AC-35B0A15077E0}"/>
              </a:ext>
            </a:extLst>
          </p:cNvPr>
          <p:cNvSpPr>
            <a:spLocks/>
          </p:cNvSpPr>
          <p:nvPr/>
        </p:nvSpPr>
        <p:spPr bwMode="auto">
          <a:xfrm>
            <a:off x="285057" y="6293618"/>
            <a:ext cx="230138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i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ACS </a:t>
            </a:r>
            <a:r>
              <a:rPr lang="en-US" i="1" kern="1050" dirty="0" err="1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Catal</a:t>
            </a:r>
            <a:r>
              <a:rPr lang="en-US" i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r>
              <a:rPr lang="en-US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, 1</a:t>
            </a:r>
          </a:p>
        </p:txBody>
      </p:sp>
    </p:spTree>
    <p:extLst>
      <p:ext uri="{BB962C8B-B14F-4D97-AF65-F5344CB8AC3E}">
        <p14:creationId xmlns:p14="http://schemas.microsoft.com/office/powerpoint/2010/main" val="2262452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A29C0-0C4D-85C8-A9E6-303E3B70D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D4210E-5AF0-7DBE-8A6A-77C465E21B8E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190148C-6C06-441E-8F81-1AD4B2F95649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F63E21A1-EC07-F62C-4B41-F681119E3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F3F3AAA8-F01A-D0FC-C065-6F553C19A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20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7182A930-7789-6A03-A581-714F133AB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7A42D7F5-1EA1-39DF-5F7D-D15265DBA73D}"/>
              </a:ext>
            </a:extLst>
          </p:cNvPr>
          <p:cNvSpPr>
            <a:spLocks/>
          </p:cNvSpPr>
          <p:nvPr/>
        </p:nvSpPr>
        <p:spPr bwMode="auto">
          <a:xfrm>
            <a:off x="401056" y="1388435"/>
            <a:ext cx="115455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b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First step: digitalization of molecules</a:t>
            </a:r>
            <a:endParaRPr lang="en-US" sz="2400" kern="1050" dirty="0"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9A175F-C245-EDC4-5232-A7F6F2D64C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659" y="2251710"/>
            <a:ext cx="6812681" cy="40549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D38A6F0-DD39-3600-0200-9E593629AC70}"/>
              </a:ext>
            </a:extLst>
          </p:cNvPr>
          <p:cNvSpPr/>
          <p:nvPr/>
        </p:nvSpPr>
        <p:spPr>
          <a:xfrm>
            <a:off x="6096000" y="4531179"/>
            <a:ext cx="3857896" cy="2039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19912A5-9CCD-931C-493C-A2130CBA6707}"/>
              </a:ext>
            </a:extLst>
          </p:cNvPr>
          <p:cNvSpPr>
            <a:spLocks/>
          </p:cNvSpPr>
          <p:nvPr/>
        </p:nvSpPr>
        <p:spPr bwMode="auto">
          <a:xfrm>
            <a:off x="285057" y="6293618"/>
            <a:ext cx="230138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i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ACS </a:t>
            </a:r>
            <a:r>
              <a:rPr lang="en-US" i="1" kern="1050" dirty="0" err="1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Catal</a:t>
            </a:r>
            <a:r>
              <a:rPr lang="en-US" i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r>
              <a:rPr lang="en-US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, 1</a:t>
            </a:r>
          </a:p>
        </p:txBody>
      </p:sp>
    </p:spTree>
    <p:extLst>
      <p:ext uri="{BB962C8B-B14F-4D97-AF65-F5344CB8AC3E}">
        <p14:creationId xmlns:p14="http://schemas.microsoft.com/office/powerpoint/2010/main" val="3931918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50158-998B-8063-A83A-177BFDC7E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EC8B53C-6CA6-14C2-2E30-AA38C76DE7EB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A27D7933-F475-508F-651F-638B5581CC5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47B01557-59B5-C96E-8147-B6AE4C48A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EDC8C2F0-A78E-8957-360D-B3BEADD7C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21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4802CD5A-7D56-3D0A-2F27-8FEAFF8AFA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9AA532E3-3181-700A-524B-4B668B19D2AB}"/>
              </a:ext>
            </a:extLst>
          </p:cNvPr>
          <p:cNvSpPr>
            <a:spLocks/>
          </p:cNvSpPr>
          <p:nvPr/>
        </p:nvSpPr>
        <p:spPr bwMode="auto">
          <a:xfrm>
            <a:off x="401056" y="1388435"/>
            <a:ext cx="115455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b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First step: digitalization of molecules</a:t>
            </a:r>
            <a:endParaRPr lang="en-US" sz="2400" kern="1050" dirty="0"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FC6596-8B2B-301A-256F-4592A2C300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659" y="2251710"/>
            <a:ext cx="6812681" cy="405493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5C463F33-0D9F-73FA-4F9E-49B4A8FEDD06}"/>
              </a:ext>
            </a:extLst>
          </p:cNvPr>
          <p:cNvSpPr>
            <a:spLocks/>
          </p:cNvSpPr>
          <p:nvPr/>
        </p:nvSpPr>
        <p:spPr bwMode="auto">
          <a:xfrm>
            <a:off x="285057" y="6293618"/>
            <a:ext cx="230138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i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ACS </a:t>
            </a:r>
            <a:r>
              <a:rPr lang="en-US" i="1" kern="1050" dirty="0" err="1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Catal</a:t>
            </a:r>
            <a:r>
              <a:rPr lang="en-US" i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r>
              <a:rPr lang="en-US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, 1</a:t>
            </a:r>
          </a:p>
        </p:txBody>
      </p:sp>
    </p:spTree>
    <p:extLst>
      <p:ext uri="{BB962C8B-B14F-4D97-AF65-F5344CB8AC3E}">
        <p14:creationId xmlns:p14="http://schemas.microsoft.com/office/powerpoint/2010/main" val="2571778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4212C-6D63-CDAF-66B5-19DA6C440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67C224A-18DE-E0C8-C7FB-8C32E902F5B2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13832FEE-9DB2-27B0-9705-843AC8BB03F8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 err="1"/>
              <a:t>Basics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Chemical ML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645DC9B2-6224-0485-2EFC-7B3B9C40D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3EA5F41F-6B7A-892C-C8E8-A90F3D052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22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134E8FEB-5AB7-F6D0-349F-FF41E3DB3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D3CB5C25-7F16-B0CF-C349-BA7429EBA236}"/>
              </a:ext>
            </a:extLst>
          </p:cNvPr>
          <p:cNvSpPr>
            <a:spLocks/>
          </p:cNvSpPr>
          <p:nvPr/>
        </p:nvSpPr>
        <p:spPr bwMode="auto">
          <a:xfrm>
            <a:off x="401056" y="1388435"/>
            <a:ext cx="115455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sz="2400" b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First step: digitalization of molecules</a:t>
            </a:r>
            <a:endParaRPr lang="en-US" sz="2400" kern="1050" dirty="0">
              <a:effectLst/>
              <a:latin typeface="Gill Sans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BD4F85-DE8F-67D9-95E7-0EE001AF2FC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472"/>
          <a:stretch/>
        </p:blipFill>
        <p:spPr>
          <a:xfrm>
            <a:off x="965885" y="2508701"/>
            <a:ext cx="10415853" cy="2999586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1B2ACC23-C5C2-35A9-B312-819C1640C757}"/>
              </a:ext>
            </a:extLst>
          </p:cNvPr>
          <p:cNvSpPr>
            <a:spLocks/>
          </p:cNvSpPr>
          <p:nvPr/>
        </p:nvSpPr>
        <p:spPr bwMode="auto">
          <a:xfrm>
            <a:off x="285057" y="6293618"/>
            <a:ext cx="230138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0" marR="0" indent="0" algn="just">
              <a:spcBef>
                <a:spcPts val="0"/>
              </a:spcBef>
              <a:spcAft>
                <a:spcPts val="300"/>
              </a:spcAft>
            </a:pPr>
            <a:r>
              <a:rPr lang="en-US" i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ACS </a:t>
            </a:r>
            <a:r>
              <a:rPr lang="en-US" i="1" kern="1050" dirty="0" err="1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Catal</a:t>
            </a:r>
            <a:r>
              <a:rPr lang="en-US" i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r>
              <a:rPr lang="en-US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kern="1050" dirty="0">
                <a:effectLst/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, 1</a:t>
            </a:r>
          </a:p>
        </p:txBody>
      </p:sp>
    </p:spTree>
    <p:extLst>
      <p:ext uri="{BB962C8B-B14F-4D97-AF65-F5344CB8AC3E}">
        <p14:creationId xmlns:p14="http://schemas.microsoft.com/office/powerpoint/2010/main" val="1295957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</a:t>
            </a:r>
            <a:r>
              <a:rPr lang="es-ES" sz="3600" dirty="0" err="1"/>
              <a:t>automation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QM </a:t>
            </a:r>
            <a:r>
              <a:rPr lang="es-ES" sz="3600" dirty="0" err="1"/>
              <a:t>protocols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C1BA77-7BBE-A26D-11C4-39CCC8051411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378" y="2166991"/>
            <a:ext cx="11020589" cy="424379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6DF8F85-3849-45D8-5A3E-44FC7D384328}"/>
              </a:ext>
            </a:extLst>
          </p:cNvPr>
          <p:cNvSpPr txBox="1"/>
          <p:nvPr/>
        </p:nvSpPr>
        <p:spPr>
          <a:xfrm>
            <a:off x="129443" y="6448191"/>
            <a:ext cx="102551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i="1" dirty="0">
                <a:latin typeface="Gill Sans"/>
              </a:rPr>
              <a:t>WIREs. </a:t>
            </a:r>
            <a:r>
              <a:rPr lang="en-US" sz="1600" i="1" dirty="0" err="1">
                <a:latin typeface="Gill Sans"/>
              </a:rPr>
              <a:t>Comput</a:t>
            </a:r>
            <a:r>
              <a:rPr lang="en-US" sz="1600" i="1" dirty="0">
                <a:latin typeface="Gill Sans"/>
              </a:rPr>
              <a:t>. Mol. Sci. </a:t>
            </a:r>
            <a:r>
              <a:rPr lang="en-US" sz="1600" b="1" dirty="0">
                <a:latin typeface="Gill Sans"/>
              </a:rPr>
              <a:t>2023</a:t>
            </a:r>
            <a:r>
              <a:rPr lang="en-US" sz="1600" dirty="0">
                <a:latin typeface="Gill Sans"/>
              </a:rPr>
              <a:t>, e1663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47D84035-6244-DA9A-CE95-760BD8BF060E}"/>
              </a:ext>
            </a:extLst>
          </p:cNvPr>
          <p:cNvSpPr>
            <a:spLocks/>
          </p:cNvSpPr>
          <p:nvPr/>
        </p:nvSpPr>
        <p:spPr bwMode="auto">
          <a:xfrm>
            <a:off x="355336" y="1443489"/>
            <a:ext cx="254874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Overview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of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AQME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28D73439-1435-F25D-B443-9AA5170ACC81}"/>
              </a:ext>
            </a:extLst>
          </p:cNvPr>
          <p:cNvSpPr>
            <a:spLocks/>
          </p:cNvSpPr>
          <p:nvPr/>
        </p:nvSpPr>
        <p:spPr bwMode="auto">
          <a:xfrm>
            <a:off x="7007074" y="1315354"/>
            <a:ext cx="169338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algn="ctr">
              <a:buSzPct val="77000"/>
            </a:pPr>
            <a:r>
              <a:rPr lang="en-US" dirty="0">
                <a:latin typeface="Gill Sans" charset="0"/>
                <a:cs typeface="Gill Sans" charset="0"/>
                <a:sym typeface="Gill Sans" charset="0"/>
              </a:rPr>
              <a:t>Shree </a:t>
            </a:r>
            <a:r>
              <a:rPr lang="en-US" dirty="0" err="1">
                <a:latin typeface="Gill Sans" charset="0"/>
                <a:cs typeface="Gill Sans" charset="0"/>
                <a:sym typeface="Gill Sans" charset="0"/>
              </a:rPr>
              <a:t>Sowndarya</a:t>
            </a:r>
            <a:endParaRPr lang="en-US" dirty="0">
              <a:latin typeface="Gill Sans" charset="0"/>
              <a:cs typeface="Gill Sans" charset="0"/>
              <a:sym typeface="Gill Sans" charset="0"/>
            </a:endParaRPr>
          </a:p>
        </p:txBody>
      </p:sp>
      <p:pic>
        <p:nvPicPr>
          <p:cNvPr id="15" name="Picture 2" descr="shreesowndarya (Shree Sowndarya Santhanalakkshmi Vejaykummar) · GitHub">
            <a:extLst>
              <a:ext uri="{FF2B5EF4-FFF2-40B4-BE49-F238E27FC236}">
                <a16:creationId xmlns:a16="http://schemas.microsoft.com/office/drawing/2014/main" id="{D9343D2A-AE19-666A-4017-4A088BD47B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25" t="26405" r="30134" b="20954"/>
          <a:stretch/>
        </p:blipFill>
        <p:spPr bwMode="auto">
          <a:xfrm>
            <a:off x="10384571" y="981683"/>
            <a:ext cx="1359234" cy="1359234"/>
          </a:xfrm>
          <a:prstGeom prst="ellipse">
            <a:avLst/>
          </a:prstGeom>
          <a:noFill/>
          <a:ln>
            <a:solidFill>
              <a:schemeClr val="tx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98241DF9-5DC6-DB57-7102-75A1A979C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23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BDF0A84A-B262-41DC-72B5-651D73947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PeerJ - Profile - Robert Paton">
            <a:extLst>
              <a:ext uri="{FF2B5EF4-FFF2-40B4-BE49-F238E27FC236}">
                <a16:creationId xmlns:a16="http://schemas.microsoft.com/office/drawing/2014/main" id="{CC9AC21F-1BD8-B15F-DB48-372F4D6B4C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1277" y="971926"/>
            <a:ext cx="1362456" cy="1362456"/>
          </a:xfrm>
          <a:prstGeom prst="ellipse">
            <a:avLst/>
          </a:prstGeom>
          <a:noFill/>
          <a:ln>
            <a:solidFill>
              <a:schemeClr val="tx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541CBE18-FC52-9F62-928A-1A6DB2D4DD1B}"/>
              </a:ext>
            </a:extLst>
          </p:cNvPr>
          <p:cNvSpPr>
            <a:spLocks/>
          </p:cNvSpPr>
          <p:nvPr/>
        </p:nvSpPr>
        <p:spPr bwMode="auto">
          <a:xfrm>
            <a:off x="6967095" y="1654052"/>
            <a:ext cx="1773344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algn="ctr">
              <a:buSzPct val="77000"/>
            </a:pPr>
            <a:r>
              <a:rPr lang="en-US" sz="1700">
                <a:latin typeface="Gill Sans" charset="0"/>
                <a:cs typeface="Gill Sans" charset="0"/>
                <a:sym typeface="Gill Sans" charset="0"/>
              </a:rPr>
              <a:t>Dr. </a:t>
            </a:r>
            <a:r>
              <a:rPr lang="en-US" sz="1700" dirty="0">
                <a:latin typeface="Gill Sans" charset="0"/>
                <a:cs typeface="Gill Sans" charset="0"/>
                <a:sym typeface="Gill Sans" charset="0"/>
              </a:rPr>
              <a:t>Robert S. Paton</a:t>
            </a:r>
          </a:p>
        </p:txBody>
      </p:sp>
    </p:spTree>
    <p:extLst>
      <p:ext uri="{BB962C8B-B14F-4D97-AF65-F5344CB8AC3E}">
        <p14:creationId xmlns:p14="http://schemas.microsoft.com/office/powerpoint/2010/main" val="1560068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</a:t>
            </a:r>
            <a:r>
              <a:rPr lang="es-ES" sz="3600" dirty="0" err="1"/>
              <a:t>automation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QM </a:t>
            </a:r>
            <a:r>
              <a:rPr lang="es-ES" sz="3600" dirty="0" err="1"/>
              <a:t>protocols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6DF8F85-3849-45D8-5A3E-44FC7D384328}"/>
              </a:ext>
            </a:extLst>
          </p:cNvPr>
          <p:cNvSpPr txBox="1"/>
          <p:nvPr/>
        </p:nvSpPr>
        <p:spPr>
          <a:xfrm>
            <a:off x="129444" y="6448191"/>
            <a:ext cx="61570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dirty="0">
                <a:latin typeface="Gill Sans"/>
              </a:rPr>
              <a:t>Alegre-Requena, Paton &amp; col., </a:t>
            </a:r>
            <a:r>
              <a:rPr lang="en-US" sz="1600" i="1" dirty="0">
                <a:latin typeface="Gill Sans"/>
              </a:rPr>
              <a:t>WIREs. </a:t>
            </a:r>
            <a:r>
              <a:rPr lang="en-US" sz="1600" i="1" dirty="0" err="1">
                <a:latin typeface="Gill Sans"/>
              </a:rPr>
              <a:t>Comput</a:t>
            </a:r>
            <a:r>
              <a:rPr lang="en-US" sz="1600" i="1" dirty="0">
                <a:latin typeface="Gill Sans"/>
              </a:rPr>
              <a:t>. Mol. Sci. </a:t>
            </a:r>
            <a:r>
              <a:rPr lang="en-US" sz="1600" b="1" dirty="0">
                <a:latin typeface="Gill Sans"/>
              </a:rPr>
              <a:t>2023</a:t>
            </a:r>
            <a:r>
              <a:rPr lang="en-US" sz="1600" dirty="0">
                <a:latin typeface="Gill Sans"/>
              </a:rPr>
              <a:t>, e1663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BD2B3890-7E95-484F-AF4B-EF2F33D39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24</a:t>
            </a:fld>
            <a:endParaRPr lang="en-US" sz="1400"/>
          </a:p>
        </p:txBody>
      </p:sp>
      <p:pic>
        <p:nvPicPr>
          <p:cNvPr id="25" name="Picture 24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DA896C91-4D77-6A96-ED04-5E01D618A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DDBBB5-91E4-A0F5-B4B9-2E2BA89FE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249" y="1869090"/>
            <a:ext cx="11900848" cy="406130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B0ACA0A-392C-15EC-440A-BD43E83C112F}"/>
              </a:ext>
            </a:extLst>
          </p:cNvPr>
          <p:cNvSpPr/>
          <p:nvPr/>
        </p:nvSpPr>
        <p:spPr>
          <a:xfrm>
            <a:off x="6665595" y="5692138"/>
            <a:ext cx="1461135" cy="494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E32E740A-E13E-CF83-D650-9F1682E4E869}"/>
              </a:ext>
            </a:extLst>
          </p:cNvPr>
          <p:cNvSpPr>
            <a:spLocks/>
          </p:cNvSpPr>
          <p:nvPr/>
        </p:nvSpPr>
        <p:spPr bwMode="auto">
          <a:xfrm>
            <a:off x="355336" y="1443489"/>
            <a:ext cx="29425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End-to-end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workflows</a:t>
            </a:r>
            <a:endParaRPr lang="es-ES" sz="2400" b="1" dirty="0">
              <a:latin typeface="Gill Sans" charset="0"/>
              <a:cs typeface="Gill Sans" charset="0"/>
              <a:sym typeface="Gill Sans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EDB5DB-71DB-9756-05B3-1D1D635840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287" y="6222539"/>
            <a:ext cx="1728947" cy="4079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8DCA18-E45E-9625-EC75-3015D8E6E404}"/>
              </a:ext>
            </a:extLst>
          </p:cNvPr>
          <p:cNvSpPr txBox="1"/>
          <p:nvPr/>
        </p:nvSpPr>
        <p:spPr>
          <a:xfrm>
            <a:off x="6575049" y="6241843"/>
            <a:ext cx="2336986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s-ES" i="1" dirty="0" err="1">
                <a:latin typeface="Gill Sans"/>
              </a:rPr>
              <a:t>sbatch</a:t>
            </a:r>
            <a:r>
              <a:rPr lang="es-ES" i="1" dirty="0">
                <a:latin typeface="Gill Sans"/>
              </a:rPr>
              <a:t> AQME_script.sh</a:t>
            </a:r>
            <a:endParaRPr lang="en-US" b="1" i="1" dirty="0">
              <a:latin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4324214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</a:t>
            </a:r>
            <a:r>
              <a:rPr lang="es-ES" sz="3600" dirty="0" err="1"/>
              <a:t>stats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6DF8F85-3849-45D8-5A3E-44FC7D384328}"/>
              </a:ext>
            </a:extLst>
          </p:cNvPr>
          <p:cNvSpPr txBox="1"/>
          <p:nvPr/>
        </p:nvSpPr>
        <p:spPr>
          <a:xfrm>
            <a:off x="129443" y="6448191"/>
            <a:ext cx="102551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i="1" dirty="0">
                <a:latin typeface="Gill Sans"/>
              </a:rPr>
              <a:t>WIREs. </a:t>
            </a:r>
            <a:r>
              <a:rPr lang="en-US" sz="1600" i="1" dirty="0" err="1">
                <a:latin typeface="Gill Sans"/>
              </a:rPr>
              <a:t>Comput</a:t>
            </a:r>
            <a:r>
              <a:rPr lang="en-US" sz="1600" i="1" dirty="0">
                <a:latin typeface="Gill Sans"/>
              </a:rPr>
              <a:t>. Mol. Sci. </a:t>
            </a:r>
            <a:r>
              <a:rPr lang="en-US" sz="1600" b="1" dirty="0">
                <a:latin typeface="Gill Sans"/>
              </a:rPr>
              <a:t>2023</a:t>
            </a:r>
            <a:r>
              <a:rPr lang="en-US" sz="1600" dirty="0">
                <a:latin typeface="Gill Sans"/>
              </a:rPr>
              <a:t>, e1663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A4F34EA-0B55-9041-0889-7E9B01ED5ABE}"/>
              </a:ext>
            </a:extLst>
          </p:cNvPr>
          <p:cNvSpPr/>
          <p:nvPr/>
        </p:nvSpPr>
        <p:spPr>
          <a:xfrm>
            <a:off x="1544630" y="1955645"/>
            <a:ext cx="9212580" cy="42437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64590BE-0629-623E-5824-2A9D525B8470}"/>
              </a:ext>
            </a:extLst>
          </p:cNvPr>
          <p:cNvSpPr txBox="1"/>
          <p:nvPr/>
        </p:nvSpPr>
        <p:spPr>
          <a:xfrm>
            <a:off x="1805834" y="4647018"/>
            <a:ext cx="19473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b="1" dirty="0">
                <a:latin typeface="Gill Sans"/>
              </a:rPr>
              <a:t>Known active users: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97E016E-0C1D-B51A-021D-EE10A8329DE7}"/>
              </a:ext>
            </a:extLst>
          </p:cNvPr>
          <p:cNvSpPr txBox="1"/>
          <p:nvPr/>
        </p:nvSpPr>
        <p:spPr>
          <a:xfrm>
            <a:off x="1870760" y="5089803"/>
            <a:ext cx="18175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i="1" u="sng" dirty="0">
                <a:latin typeface="Gill Sans"/>
              </a:rPr>
              <a:t>Academic groups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245968B-5C59-8170-6AA8-BB38457A3EC9}"/>
              </a:ext>
            </a:extLst>
          </p:cNvPr>
          <p:cNvSpPr txBox="1"/>
          <p:nvPr/>
        </p:nvSpPr>
        <p:spPr>
          <a:xfrm>
            <a:off x="6745112" y="4365777"/>
            <a:ext cx="3023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i="1" u="sng" dirty="0">
                <a:latin typeface="Gill Sans"/>
              </a:rPr>
              <a:t>Companies</a:t>
            </a:r>
          </a:p>
        </p:txBody>
      </p:sp>
      <p:pic>
        <p:nvPicPr>
          <p:cNvPr id="63" name="Picture 2" descr="Home | GlaxoSmithKline España">
            <a:extLst>
              <a:ext uri="{FF2B5EF4-FFF2-40B4-BE49-F238E27FC236}">
                <a16:creationId xmlns:a16="http://schemas.microsoft.com/office/drawing/2014/main" id="{DDC09633-DA99-C12A-B5B3-532203381A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28" r="23913"/>
          <a:stretch/>
        </p:blipFill>
        <p:spPr bwMode="auto">
          <a:xfrm>
            <a:off x="8018893" y="4112761"/>
            <a:ext cx="888067" cy="879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56" name="Picture 4" descr="AbbVie Inc. – Company Products, History, Lawsuits and Recalls">
            <a:extLst>
              <a:ext uri="{FF2B5EF4-FFF2-40B4-BE49-F238E27FC236}">
                <a16:creationId xmlns:a16="http://schemas.microsoft.com/office/drawing/2014/main" id="{EAFB8D3E-4602-6252-1388-BD5256B83B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77" b="28627"/>
          <a:stretch/>
        </p:blipFill>
        <p:spPr bwMode="auto">
          <a:xfrm>
            <a:off x="8973070" y="4276414"/>
            <a:ext cx="1746280" cy="461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457" name="Rectangle 5">
            <a:extLst>
              <a:ext uri="{FF2B5EF4-FFF2-40B4-BE49-F238E27FC236}">
                <a16:creationId xmlns:a16="http://schemas.microsoft.com/office/drawing/2014/main" id="{57E6BF3C-30B5-DACC-CB67-DE02FA1F3A05}"/>
              </a:ext>
            </a:extLst>
          </p:cNvPr>
          <p:cNvSpPr>
            <a:spLocks/>
          </p:cNvSpPr>
          <p:nvPr/>
        </p:nvSpPr>
        <p:spPr bwMode="auto">
          <a:xfrm>
            <a:off x="4402231" y="4105005"/>
            <a:ext cx="1817523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algn="ctr">
              <a:buSzPct val="77000"/>
            </a:pPr>
            <a:r>
              <a:rPr lang="en-US" sz="1600" dirty="0">
                <a:latin typeface="Gill Sans" charset="0"/>
                <a:cs typeface="Gill Sans" charset="0"/>
                <a:sym typeface="Gill Sans" charset="0"/>
              </a:rPr>
              <a:t>Prof.  Juho Helaja</a:t>
            </a:r>
          </a:p>
          <a:p>
            <a:pPr algn="ctr">
              <a:buSzPct val="77000"/>
            </a:pPr>
            <a:r>
              <a:rPr lang="en-US" sz="1600" dirty="0">
                <a:latin typeface="Gill Sans" charset="0"/>
                <a:cs typeface="Gill Sans" charset="0"/>
                <a:sym typeface="Gill Sans" charset="0"/>
              </a:rPr>
              <a:t>University of Helsinki</a:t>
            </a:r>
          </a:p>
        </p:txBody>
      </p:sp>
      <p:sp>
        <p:nvSpPr>
          <p:cNvPr id="19461" name="TextBox 19460">
            <a:extLst>
              <a:ext uri="{FF2B5EF4-FFF2-40B4-BE49-F238E27FC236}">
                <a16:creationId xmlns:a16="http://schemas.microsoft.com/office/drawing/2014/main" id="{356A1180-31E4-B83E-7CE0-185D3B3A3EF7}"/>
              </a:ext>
            </a:extLst>
          </p:cNvPr>
          <p:cNvSpPr txBox="1"/>
          <p:nvPr/>
        </p:nvSpPr>
        <p:spPr>
          <a:xfrm>
            <a:off x="1214568" y="5519047"/>
            <a:ext cx="31299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i="0" dirty="0">
                <a:effectLst/>
                <a:latin typeface="Gill Sans"/>
              </a:rPr>
              <a:t>Dr. A. Vazquez-</a:t>
            </a:r>
            <a:r>
              <a:rPr lang="en-US" sz="1600" b="0" i="0" dirty="0" err="1">
                <a:effectLst/>
                <a:latin typeface="Gill Sans"/>
              </a:rPr>
              <a:t>Mayagoitia</a:t>
            </a:r>
            <a:endParaRPr lang="en-US" sz="1600" b="0" i="0" dirty="0">
              <a:effectLst/>
              <a:latin typeface="Gill Sans"/>
            </a:endParaRPr>
          </a:p>
          <a:p>
            <a:pPr algn="ctr"/>
            <a:r>
              <a:rPr lang="en-US" sz="1600" b="0" i="0" dirty="0">
                <a:effectLst/>
                <a:latin typeface="Gill Sans"/>
              </a:rPr>
              <a:t>Argonne National Lab.</a:t>
            </a:r>
            <a:endParaRPr lang="en-US" sz="1600" dirty="0">
              <a:latin typeface="Gill Sans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AA901B83-0343-A782-45BA-8934F3E8FA83}"/>
              </a:ext>
            </a:extLst>
          </p:cNvPr>
          <p:cNvSpPr>
            <a:spLocks/>
          </p:cNvSpPr>
          <p:nvPr/>
        </p:nvSpPr>
        <p:spPr bwMode="auto">
          <a:xfrm>
            <a:off x="355336" y="1234673"/>
            <a:ext cx="242506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Users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and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interest</a:t>
            </a:r>
            <a:endParaRPr lang="es-ES" sz="2400" b="1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29B3B316-6ABC-BB00-122F-B9873907B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25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D5F82268-0A5C-CA07-4C0F-C77C771CC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5FD1BE6-0ED2-F1B2-28F5-9EA56749BC00}"/>
              </a:ext>
            </a:extLst>
          </p:cNvPr>
          <p:cNvSpPr txBox="1"/>
          <p:nvPr/>
        </p:nvSpPr>
        <p:spPr>
          <a:xfrm>
            <a:off x="2282638" y="31849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Gill Sans"/>
              </a:rPr>
              <a:t>www.readthedocs.org/projects/aqme</a:t>
            </a:r>
            <a:endParaRPr lang="en-US" i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1B57BBF-AB93-C665-AF46-A96A7D45CB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9226" y="2636136"/>
            <a:ext cx="1423144" cy="402938"/>
          </a:xfrm>
          <a:prstGeom prst="rect">
            <a:avLst/>
          </a:prstGeom>
        </p:spPr>
      </p:pic>
      <p:pic>
        <p:nvPicPr>
          <p:cNvPr id="23" name="Picture 8" descr="Read the Docs - Wikipedia">
            <a:extLst>
              <a:ext uri="{FF2B5EF4-FFF2-40B4-BE49-F238E27FC236}">
                <a16:creationId xmlns:a16="http://schemas.microsoft.com/office/drawing/2014/main" id="{295E07F0-182F-6790-E6C4-856C30356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398" y="3080845"/>
            <a:ext cx="57150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25398C9-04CB-BE2A-573D-85ABB0A82DE1}"/>
              </a:ext>
            </a:extLst>
          </p:cNvPr>
          <p:cNvSpPr txBox="1"/>
          <p:nvPr/>
        </p:nvSpPr>
        <p:spPr>
          <a:xfrm>
            <a:off x="2299611" y="236108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Gill Sans"/>
              </a:rPr>
              <a:t>https://github.com/jvalegre/aqme</a:t>
            </a:r>
            <a:endParaRPr lang="en-US" i="1" dirty="0"/>
          </a:p>
        </p:txBody>
      </p:sp>
      <p:pic>
        <p:nvPicPr>
          <p:cNvPr id="27" name="Picture 6" descr="GitHub Logo, symbol, meaning, history, PNG, brand">
            <a:extLst>
              <a:ext uri="{FF2B5EF4-FFF2-40B4-BE49-F238E27FC236}">
                <a16:creationId xmlns:a16="http://schemas.microsoft.com/office/drawing/2014/main" id="{FE3F2DE7-5F41-FB41-E8C2-4A5680CF57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03" t="1" r="29798" b="32815"/>
          <a:stretch/>
        </p:blipFill>
        <p:spPr bwMode="auto">
          <a:xfrm>
            <a:off x="1726923" y="2246079"/>
            <a:ext cx="559824" cy="517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465" name="Straight Connector 19464">
            <a:extLst>
              <a:ext uri="{FF2B5EF4-FFF2-40B4-BE49-F238E27FC236}">
                <a16:creationId xmlns:a16="http://schemas.microsoft.com/office/drawing/2014/main" id="{62619DE8-9FDC-FA52-28E6-AFC15CFD20DF}"/>
              </a:ext>
            </a:extLst>
          </p:cNvPr>
          <p:cNvCxnSpPr/>
          <p:nvPr/>
        </p:nvCxnSpPr>
        <p:spPr>
          <a:xfrm>
            <a:off x="6660659" y="3494695"/>
            <a:ext cx="387817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AAE6ED55-E97D-B5A4-189E-724E552CA3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30287" y="2510377"/>
            <a:ext cx="2686362" cy="655472"/>
          </a:xfrm>
          <a:prstGeom prst="rect">
            <a:avLst/>
          </a:prstGeom>
        </p:spPr>
      </p:pic>
      <p:pic>
        <p:nvPicPr>
          <p:cNvPr id="1026" name="Picture 2" descr="Eli Lilly and Company - Wikipedia">
            <a:extLst>
              <a:ext uri="{FF2B5EF4-FFF2-40B4-BE49-F238E27FC236}">
                <a16:creationId xmlns:a16="http://schemas.microsoft.com/office/drawing/2014/main" id="{B32AA996-066C-DA1B-FF6F-544B4E6C6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387" y="5126964"/>
            <a:ext cx="1294872" cy="734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martsheet ayuda a Syngenta a ...">
            <a:extLst>
              <a:ext uri="{FF2B5EF4-FFF2-40B4-BE49-F238E27FC236}">
                <a16:creationId xmlns:a16="http://schemas.microsoft.com/office/drawing/2014/main" id="{9EE665C8-6086-ED7D-0C90-A4AFE2814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9138" y="5249147"/>
            <a:ext cx="1610378" cy="48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32B6422-2159-A4B8-2A42-FEECC44F6B8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2228" y="4810990"/>
            <a:ext cx="1029283" cy="12261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132FE9-23E1-8E61-A9B4-E550E0D8ED0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66400" y="4029385"/>
            <a:ext cx="2057400" cy="39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9718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3402C-216C-6D60-B7D9-7C98D2777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39A2C2F-8142-9FC6-32FB-D92901443BB4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46FA3CDB-7447-211C-13E9-104A303A74D6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</a:t>
            </a:r>
            <a:r>
              <a:rPr lang="es-ES" sz="3600" dirty="0" err="1"/>
              <a:t>automation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QM </a:t>
            </a:r>
            <a:r>
              <a:rPr lang="es-ES" sz="3600" dirty="0" err="1"/>
              <a:t>protocols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00E0E907-C933-5FFA-5152-89F378FC2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F0B57400-200F-36E9-A743-A1E1D4B0D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26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0712DDFE-EFB8-F4BC-FAEC-4BFC4A1AC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48D54ED-4E46-4C4D-7F70-B68C759EAA51}"/>
              </a:ext>
            </a:extLst>
          </p:cNvPr>
          <p:cNvSpPr txBox="1"/>
          <p:nvPr/>
        </p:nvSpPr>
        <p:spPr>
          <a:xfrm>
            <a:off x="-369570" y="6311601"/>
            <a:ext cx="54787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dirty="0">
                <a:latin typeface="Gill Sans"/>
              </a:rPr>
              <a:t>Future Leaders Special Issue. </a:t>
            </a:r>
            <a:r>
              <a:rPr lang="en-US" sz="1600" i="1" dirty="0">
                <a:latin typeface="Gill Sans"/>
              </a:rPr>
              <a:t>Trends in Chem.</a:t>
            </a:r>
            <a:r>
              <a:rPr lang="en-US" sz="1600" dirty="0">
                <a:latin typeface="Gill Sans"/>
              </a:rPr>
              <a:t> </a:t>
            </a:r>
            <a:r>
              <a:rPr lang="en-US" sz="1600" b="1" dirty="0">
                <a:latin typeface="Gill Sans"/>
              </a:rPr>
              <a:t>2024</a:t>
            </a:r>
          </a:p>
        </p:txBody>
      </p:sp>
      <p:pic>
        <p:nvPicPr>
          <p:cNvPr id="10" name="Picture 9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058D9CED-AF8D-68C2-7334-4B1490D23C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44" y="1551824"/>
            <a:ext cx="11713257" cy="418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2437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181D0-310A-47F3-C01D-03E9D0C0C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C0E34502-AC12-0F5C-162C-209D1B3C5C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44" y="1551824"/>
            <a:ext cx="11713257" cy="418330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0FD170C-0A20-DD58-A491-62E156000E4F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B4991FF7-5AEA-299D-DC94-24375E8EF43F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</a:t>
            </a:r>
            <a:r>
              <a:rPr lang="es-ES" sz="3600" dirty="0" err="1"/>
              <a:t>automation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QM </a:t>
            </a:r>
            <a:r>
              <a:rPr lang="es-ES" sz="3600" dirty="0" err="1"/>
              <a:t>protocols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A82608D-CCBE-C1E6-F815-3FBE65F714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5F5591FA-B76C-F84C-A81D-8D481BE25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27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27E1F38C-7C5A-5DDE-A4BB-A09AC57F08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0037E4F-8E98-8694-42AC-19DEAF81ED5A}"/>
              </a:ext>
            </a:extLst>
          </p:cNvPr>
          <p:cNvSpPr/>
          <p:nvPr/>
        </p:nvSpPr>
        <p:spPr>
          <a:xfrm>
            <a:off x="5863590" y="1359434"/>
            <a:ext cx="6168198" cy="4412716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B3201E-3DA3-DE7F-4D15-84A46F8CC547}"/>
              </a:ext>
            </a:extLst>
          </p:cNvPr>
          <p:cNvSpPr/>
          <p:nvPr/>
        </p:nvSpPr>
        <p:spPr>
          <a:xfrm>
            <a:off x="0" y="3623310"/>
            <a:ext cx="5863590" cy="212794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4E2CBC-F81F-ADF7-14BE-D17996C8E789}"/>
              </a:ext>
            </a:extLst>
          </p:cNvPr>
          <p:cNvSpPr txBox="1"/>
          <p:nvPr/>
        </p:nvSpPr>
        <p:spPr>
          <a:xfrm>
            <a:off x="-369570" y="6311601"/>
            <a:ext cx="54787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dirty="0">
                <a:latin typeface="Gill Sans"/>
              </a:rPr>
              <a:t>Future Leaders Special Issue. </a:t>
            </a:r>
            <a:r>
              <a:rPr lang="en-US" sz="1600" i="1" dirty="0">
                <a:latin typeface="Gill Sans"/>
              </a:rPr>
              <a:t>Trends in Chem.</a:t>
            </a:r>
            <a:r>
              <a:rPr lang="en-US" sz="1600" dirty="0">
                <a:latin typeface="Gill Sans"/>
              </a:rPr>
              <a:t> </a:t>
            </a:r>
            <a:r>
              <a:rPr lang="en-US" sz="1600" b="1" dirty="0">
                <a:latin typeface="Gill Sans"/>
              </a:rPr>
              <a:t>2024</a:t>
            </a:r>
          </a:p>
        </p:txBody>
      </p:sp>
    </p:spTree>
    <p:extLst>
      <p:ext uri="{BB962C8B-B14F-4D97-AF65-F5344CB8AC3E}">
        <p14:creationId xmlns:p14="http://schemas.microsoft.com/office/powerpoint/2010/main" val="6390935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ADA1D-7F74-19DB-3886-C42A854B1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EE29DD6-BDB8-2EA4-2E9C-12F7245E3456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DA4C59A1-999C-A4A8-D206-8D706A648671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</a:t>
            </a:r>
            <a:r>
              <a:rPr lang="es-ES" sz="3600" dirty="0" err="1"/>
              <a:t>automation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QM </a:t>
            </a:r>
            <a:r>
              <a:rPr lang="es-ES" sz="3600" dirty="0" err="1"/>
              <a:t>protocols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07B909FA-CCB7-E9A9-5963-78A7EEA93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A5600034-3E59-6CB5-5DD4-F4334F8E0211}"/>
              </a:ext>
            </a:extLst>
          </p:cNvPr>
          <p:cNvSpPr>
            <a:spLocks/>
          </p:cNvSpPr>
          <p:nvPr/>
        </p:nvSpPr>
        <p:spPr bwMode="auto">
          <a:xfrm>
            <a:off x="284498" y="1313244"/>
            <a:ext cx="39270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Conformer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searches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are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tricky</a:t>
            </a:r>
            <a:endParaRPr lang="es-ES" sz="2400" i="1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17C76431-1C43-C30B-D09A-B49A1375A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28</a:t>
            </a:fld>
            <a:endParaRPr lang="en-US" sz="1400"/>
          </a:p>
        </p:txBody>
      </p:sp>
      <p:pic>
        <p:nvPicPr>
          <p:cNvPr id="10" name="Picture 9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CE4AEEAD-B6B1-1670-0F19-C7B1D35E8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CA44283-3707-BABB-7843-919D168ECFC2}"/>
              </a:ext>
            </a:extLst>
          </p:cNvPr>
          <p:cNvSpPr txBox="1"/>
          <p:nvPr/>
        </p:nvSpPr>
        <p:spPr>
          <a:xfrm>
            <a:off x="3608438" y="5144646"/>
            <a:ext cx="52672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>
                <a:latin typeface="Gill Sans" charset="0"/>
                <a:cs typeface="Gill Sans" charset="0"/>
                <a:sym typeface="Gill Sans" charset="0"/>
              </a:rPr>
              <a:t>What’s the most stable conformer in each case?</a:t>
            </a:r>
            <a:endParaRPr lang="en-US" sz="2000" i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998CF7-4581-0882-DFAD-5BBCD595CE70}"/>
              </a:ext>
            </a:extLst>
          </p:cNvPr>
          <p:cNvSpPr txBox="1"/>
          <p:nvPr/>
        </p:nvSpPr>
        <p:spPr>
          <a:xfrm>
            <a:off x="97637" y="6082361"/>
            <a:ext cx="28309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>
                <a:latin typeface="Gill Sans"/>
              </a:rPr>
              <a:t>Future Leaders Special Issue. </a:t>
            </a:r>
          </a:p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i="1" dirty="0">
                <a:latin typeface="Gill Sans"/>
              </a:rPr>
              <a:t>Trends in Chem.</a:t>
            </a:r>
            <a:r>
              <a:rPr lang="en-US" sz="1600" dirty="0">
                <a:latin typeface="Gill Sans"/>
              </a:rPr>
              <a:t> </a:t>
            </a:r>
            <a:r>
              <a:rPr lang="en-US" sz="1600" b="1" dirty="0">
                <a:latin typeface="Gill Sans"/>
              </a:rPr>
              <a:t>2024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F71922-FA38-D0BD-5752-25AB14C12D94}"/>
              </a:ext>
            </a:extLst>
          </p:cNvPr>
          <p:cNvSpPr txBox="1"/>
          <p:nvPr/>
        </p:nvSpPr>
        <p:spPr>
          <a:xfrm>
            <a:off x="3357461" y="5943048"/>
            <a:ext cx="34539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es-ES" sz="1600" b="1" dirty="0">
                <a:latin typeface="Gill Sans"/>
              </a:rPr>
              <a:t>1: </a:t>
            </a:r>
            <a:r>
              <a:rPr lang="en-US" sz="1600" i="1" dirty="0">
                <a:latin typeface="Gill Sans"/>
              </a:rPr>
              <a:t>Proc. Comb. Inst. </a:t>
            </a:r>
            <a:r>
              <a:rPr lang="en-US" sz="1600" b="1" dirty="0">
                <a:latin typeface="Gill Sans"/>
              </a:rPr>
              <a:t>2023</a:t>
            </a:r>
            <a:r>
              <a:rPr lang="en-US" sz="1600" dirty="0">
                <a:latin typeface="Gill Sans"/>
              </a:rPr>
              <a:t>, </a:t>
            </a:r>
            <a:r>
              <a:rPr lang="fr-FR" sz="1600" i="1" dirty="0">
                <a:latin typeface="Gill Sans"/>
              </a:rPr>
              <a:t>39</a:t>
            </a:r>
            <a:r>
              <a:rPr lang="fr-FR" sz="1600" dirty="0">
                <a:latin typeface="Gill Sans"/>
              </a:rPr>
              <a:t>, 877</a:t>
            </a:r>
          </a:p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b="1" dirty="0">
                <a:latin typeface="Gill Sans"/>
              </a:rPr>
              <a:t>2</a:t>
            </a:r>
            <a:r>
              <a:rPr lang="en-US" sz="1600" dirty="0">
                <a:latin typeface="Gill Sans"/>
              </a:rPr>
              <a:t>,</a:t>
            </a:r>
            <a:r>
              <a:rPr lang="en-US" sz="1600" b="1" dirty="0">
                <a:latin typeface="Gill Sans"/>
              </a:rPr>
              <a:t> 3: </a:t>
            </a:r>
            <a:r>
              <a:rPr lang="de-DE" sz="1600" i="1" dirty="0">
                <a:latin typeface="Gill Sans"/>
              </a:rPr>
              <a:t>Chem. Eng. J. </a:t>
            </a:r>
            <a:r>
              <a:rPr lang="de-DE" sz="1600" b="1" dirty="0">
                <a:latin typeface="Gill Sans"/>
              </a:rPr>
              <a:t>2023</a:t>
            </a:r>
            <a:r>
              <a:rPr lang="de-DE" sz="1600" dirty="0">
                <a:latin typeface="Gill Sans"/>
              </a:rPr>
              <a:t>, </a:t>
            </a:r>
            <a:r>
              <a:rPr lang="de-DE" sz="1600" i="1" dirty="0">
                <a:latin typeface="Gill Sans"/>
              </a:rPr>
              <a:t>466</a:t>
            </a:r>
            <a:r>
              <a:rPr lang="de-DE" sz="1600" dirty="0">
                <a:latin typeface="Gill Sans"/>
              </a:rPr>
              <a:t>, 143346.</a:t>
            </a:r>
          </a:p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b="1" dirty="0">
                <a:latin typeface="Gill Sans"/>
              </a:rPr>
              <a:t>4:</a:t>
            </a:r>
            <a:r>
              <a:rPr lang="en-US" sz="1600" dirty="0">
                <a:latin typeface="Gill Sans"/>
              </a:rPr>
              <a:t> </a:t>
            </a:r>
            <a:r>
              <a:rPr lang="fr-FR" sz="1600" i="1" dirty="0">
                <a:latin typeface="Gill Sans"/>
              </a:rPr>
              <a:t>Nature Commun. </a:t>
            </a:r>
            <a:r>
              <a:rPr lang="fr-FR" sz="1600" b="1" dirty="0">
                <a:latin typeface="Gill Sans"/>
              </a:rPr>
              <a:t>2022</a:t>
            </a:r>
            <a:r>
              <a:rPr lang="fr-FR" sz="1600" dirty="0">
                <a:latin typeface="Gill Sans"/>
              </a:rPr>
              <a:t>, </a:t>
            </a:r>
            <a:r>
              <a:rPr lang="fr-FR" sz="1600" i="1" dirty="0">
                <a:latin typeface="Gill Sans"/>
              </a:rPr>
              <a:t>13</a:t>
            </a:r>
            <a:r>
              <a:rPr lang="fr-FR" sz="1600" dirty="0">
                <a:latin typeface="Gill Sans"/>
              </a:rPr>
              <a:t>, 6885.</a:t>
            </a:r>
            <a:endParaRPr lang="en-US" sz="1600" dirty="0">
              <a:latin typeface="Gill San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072CA5F-D64B-67B5-98E1-1EE5F4ECD72E}"/>
              </a:ext>
            </a:extLst>
          </p:cNvPr>
          <p:cNvCxnSpPr/>
          <p:nvPr/>
        </p:nvCxnSpPr>
        <p:spPr>
          <a:xfrm>
            <a:off x="3071527" y="5963508"/>
            <a:ext cx="0" cy="8105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1FE7E5C-B2EC-C698-B6DA-50F418EDC05B}"/>
              </a:ext>
            </a:extLst>
          </p:cNvPr>
          <p:cNvSpPr txBox="1"/>
          <p:nvPr/>
        </p:nvSpPr>
        <p:spPr>
          <a:xfrm>
            <a:off x="6936361" y="5943047"/>
            <a:ext cx="48730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b="1" dirty="0">
                <a:latin typeface="Gill Sans"/>
              </a:rPr>
              <a:t>5: </a:t>
            </a:r>
            <a:r>
              <a:rPr lang="de-DE" sz="1600" i="1" dirty="0">
                <a:latin typeface="Gill Sans"/>
              </a:rPr>
              <a:t>J. Am. Chem. Soc. </a:t>
            </a:r>
            <a:r>
              <a:rPr lang="de-DE" sz="1600" b="1" dirty="0">
                <a:latin typeface="Gill Sans"/>
              </a:rPr>
              <a:t>2022</a:t>
            </a:r>
            <a:r>
              <a:rPr lang="de-DE" sz="1600" dirty="0">
                <a:latin typeface="Gill Sans"/>
              </a:rPr>
              <a:t>, </a:t>
            </a:r>
            <a:r>
              <a:rPr lang="de-DE" sz="1600" i="1" dirty="0">
                <a:latin typeface="Gill Sans"/>
              </a:rPr>
              <a:t>144</a:t>
            </a:r>
            <a:r>
              <a:rPr lang="de-DE" sz="1600" dirty="0">
                <a:latin typeface="Gill Sans"/>
              </a:rPr>
              <a:t>, 86.</a:t>
            </a:r>
          </a:p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de-DE" sz="1600" b="1" dirty="0">
                <a:latin typeface="Gill Sans"/>
              </a:rPr>
              <a:t>6: </a:t>
            </a:r>
            <a:r>
              <a:rPr lang="de-DE" sz="1600" i="1" dirty="0">
                <a:latin typeface="Gill Sans"/>
              </a:rPr>
              <a:t>Chem. Eur. J. </a:t>
            </a:r>
            <a:r>
              <a:rPr lang="de-DE" sz="1600" b="1" dirty="0">
                <a:latin typeface="Gill Sans"/>
              </a:rPr>
              <a:t>2017</a:t>
            </a:r>
            <a:r>
              <a:rPr lang="de-DE" sz="1600" dirty="0">
                <a:latin typeface="Gill Sans"/>
              </a:rPr>
              <a:t>, </a:t>
            </a:r>
            <a:r>
              <a:rPr lang="de-DE" sz="1600" i="1" dirty="0">
                <a:latin typeface="Gill Sans"/>
              </a:rPr>
              <a:t>23</a:t>
            </a:r>
            <a:r>
              <a:rPr lang="de-DE" sz="1600" dirty="0">
                <a:latin typeface="Gill Sans"/>
              </a:rPr>
              <a:t>, 15336</a:t>
            </a:r>
          </a:p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de-DE" sz="1600" b="1" dirty="0">
                <a:latin typeface="Gill Sans"/>
              </a:rPr>
              <a:t>7: </a:t>
            </a:r>
            <a:r>
              <a:rPr lang="de-DE" sz="1600" i="1" dirty="0">
                <a:latin typeface="Gill Sans"/>
              </a:rPr>
              <a:t>ChemRxiv</a:t>
            </a:r>
            <a:r>
              <a:rPr lang="de-DE" sz="1600" dirty="0">
                <a:latin typeface="Gill Sans"/>
              </a:rPr>
              <a:t>, </a:t>
            </a:r>
            <a:r>
              <a:rPr lang="de-DE" sz="1600" b="1" dirty="0">
                <a:latin typeface="Gill Sans"/>
              </a:rPr>
              <a:t>2023</a:t>
            </a:r>
            <a:r>
              <a:rPr lang="de-DE" sz="1600" dirty="0">
                <a:latin typeface="Gill Sans"/>
              </a:rPr>
              <a:t>, 10.26434/chemrxiv-2023-8jzsp </a:t>
            </a:r>
            <a:r>
              <a:rPr lang="en-US" sz="1600" dirty="0">
                <a:latin typeface="Gill Sans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A95A29-8752-E452-1B8B-625DB80A2BD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3862"/>
          <a:stretch/>
        </p:blipFill>
        <p:spPr>
          <a:xfrm>
            <a:off x="1696434" y="2100286"/>
            <a:ext cx="9089136" cy="235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5463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E9A38-11B8-9B84-CF6C-D6DBD9BB3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CC004E3-A71D-AB99-9376-DA8164F240FB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499C8BA8-B305-E523-5013-1A3629A21F72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</a:t>
            </a:r>
            <a:r>
              <a:rPr lang="es-ES" sz="3600" dirty="0" err="1"/>
              <a:t>automation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QM </a:t>
            </a:r>
            <a:r>
              <a:rPr lang="es-ES" sz="3600" dirty="0" err="1"/>
              <a:t>protocols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8FC3E59C-8E5C-E2FA-3CEC-678E2C64B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A1F39DAF-289A-5307-F0B8-538D5DC0BBCD}"/>
              </a:ext>
            </a:extLst>
          </p:cNvPr>
          <p:cNvSpPr>
            <a:spLocks/>
          </p:cNvSpPr>
          <p:nvPr/>
        </p:nvSpPr>
        <p:spPr bwMode="auto">
          <a:xfrm>
            <a:off x="284498" y="1313244"/>
            <a:ext cx="39270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Conformer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searches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are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tricky</a:t>
            </a:r>
            <a:endParaRPr lang="es-ES" sz="2400" i="1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1B15715E-B23D-BD06-C6C6-D153962E4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29</a:t>
            </a:fld>
            <a:endParaRPr lang="en-US" sz="1400"/>
          </a:p>
        </p:txBody>
      </p:sp>
      <p:pic>
        <p:nvPicPr>
          <p:cNvPr id="10" name="Picture 9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F7E29298-A78E-08B1-2195-E35CC2AAC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7C42B6A-B455-3C10-E85D-FC49767E226B}"/>
              </a:ext>
            </a:extLst>
          </p:cNvPr>
          <p:cNvSpPr txBox="1"/>
          <p:nvPr/>
        </p:nvSpPr>
        <p:spPr>
          <a:xfrm>
            <a:off x="97637" y="6082361"/>
            <a:ext cx="28309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>
                <a:latin typeface="Gill Sans"/>
              </a:rPr>
              <a:t>Future Leaders Special Issue. </a:t>
            </a:r>
          </a:p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i="1" dirty="0">
                <a:latin typeface="Gill Sans"/>
              </a:rPr>
              <a:t>Trends in Chem.</a:t>
            </a:r>
            <a:r>
              <a:rPr lang="en-US" sz="1600" dirty="0">
                <a:latin typeface="Gill Sans"/>
              </a:rPr>
              <a:t> </a:t>
            </a:r>
            <a:r>
              <a:rPr lang="en-US" sz="1600" b="1" dirty="0">
                <a:latin typeface="Gill Sans"/>
              </a:rPr>
              <a:t>2024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58EFB0-3AA2-0E3D-57B4-91B3F9AAD862}"/>
              </a:ext>
            </a:extLst>
          </p:cNvPr>
          <p:cNvSpPr txBox="1"/>
          <p:nvPr/>
        </p:nvSpPr>
        <p:spPr>
          <a:xfrm>
            <a:off x="3357461" y="5943048"/>
            <a:ext cx="34539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es-ES" sz="1600" b="1" dirty="0">
                <a:latin typeface="Gill Sans"/>
              </a:rPr>
              <a:t>1: </a:t>
            </a:r>
            <a:r>
              <a:rPr lang="en-US" sz="1600" i="1" dirty="0">
                <a:latin typeface="Gill Sans"/>
              </a:rPr>
              <a:t>Proc. Comb. Inst. </a:t>
            </a:r>
            <a:r>
              <a:rPr lang="en-US" sz="1600" b="1" dirty="0">
                <a:latin typeface="Gill Sans"/>
              </a:rPr>
              <a:t>2023</a:t>
            </a:r>
            <a:r>
              <a:rPr lang="en-US" sz="1600" dirty="0">
                <a:latin typeface="Gill Sans"/>
              </a:rPr>
              <a:t>, </a:t>
            </a:r>
            <a:r>
              <a:rPr lang="fr-FR" sz="1600" i="1" dirty="0">
                <a:latin typeface="Gill Sans"/>
              </a:rPr>
              <a:t>39</a:t>
            </a:r>
            <a:r>
              <a:rPr lang="fr-FR" sz="1600" dirty="0">
                <a:latin typeface="Gill Sans"/>
              </a:rPr>
              <a:t>, 877</a:t>
            </a:r>
          </a:p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b="1" dirty="0">
                <a:latin typeface="Gill Sans"/>
              </a:rPr>
              <a:t>2</a:t>
            </a:r>
            <a:r>
              <a:rPr lang="en-US" sz="1600" dirty="0">
                <a:latin typeface="Gill Sans"/>
              </a:rPr>
              <a:t>,</a:t>
            </a:r>
            <a:r>
              <a:rPr lang="en-US" sz="1600" b="1" dirty="0">
                <a:latin typeface="Gill Sans"/>
              </a:rPr>
              <a:t> 3: </a:t>
            </a:r>
            <a:r>
              <a:rPr lang="de-DE" sz="1600" i="1" dirty="0">
                <a:latin typeface="Gill Sans"/>
              </a:rPr>
              <a:t>Chem. Eng. J. </a:t>
            </a:r>
            <a:r>
              <a:rPr lang="de-DE" sz="1600" b="1" dirty="0">
                <a:latin typeface="Gill Sans"/>
              </a:rPr>
              <a:t>2023</a:t>
            </a:r>
            <a:r>
              <a:rPr lang="de-DE" sz="1600" dirty="0">
                <a:latin typeface="Gill Sans"/>
              </a:rPr>
              <a:t>, </a:t>
            </a:r>
            <a:r>
              <a:rPr lang="de-DE" sz="1600" i="1" dirty="0">
                <a:latin typeface="Gill Sans"/>
              </a:rPr>
              <a:t>466</a:t>
            </a:r>
            <a:r>
              <a:rPr lang="de-DE" sz="1600" dirty="0">
                <a:latin typeface="Gill Sans"/>
              </a:rPr>
              <a:t>, 143346.</a:t>
            </a:r>
          </a:p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b="1" dirty="0">
                <a:latin typeface="Gill Sans"/>
              </a:rPr>
              <a:t>4:</a:t>
            </a:r>
            <a:r>
              <a:rPr lang="en-US" sz="1600" dirty="0">
                <a:latin typeface="Gill Sans"/>
              </a:rPr>
              <a:t> </a:t>
            </a:r>
            <a:r>
              <a:rPr lang="fr-FR" sz="1600" i="1" dirty="0">
                <a:latin typeface="Gill Sans"/>
              </a:rPr>
              <a:t>Nature Commun. </a:t>
            </a:r>
            <a:r>
              <a:rPr lang="fr-FR" sz="1600" b="1" dirty="0">
                <a:latin typeface="Gill Sans"/>
              </a:rPr>
              <a:t>2022</a:t>
            </a:r>
            <a:r>
              <a:rPr lang="fr-FR" sz="1600" dirty="0">
                <a:latin typeface="Gill Sans"/>
              </a:rPr>
              <a:t>, </a:t>
            </a:r>
            <a:r>
              <a:rPr lang="fr-FR" sz="1600" i="1" dirty="0">
                <a:latin typeface="Gill Sans"/>
              </a:rPr>
              <a:t>13</a:t>
            </a:r>
            <a:r>
              <a:rPr lang="fr-FR" sz="1600" dirty="0">
                <a:latin typeface="Gill Sans"/>
              </a:rPr>
              <a:t>, 6885.</a:t>
            </a:r>
            <a:endParaRPr lang="en-US" sz="1600" dirty="0">
              <a:latin typeface="Gill San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D67BC5A-B599-C275-4C9B-93EE554C05D2}"/>
              </a:ext>
            </a:extLst>
          </p:cNvPr>
          <p:cNvCxnSpPr/>
          <p:nvPr/>
        </p:nvCxnSpPr>
        <p:spPr>
          <a:xfrm>
            <a:off x="3071527" y="5963508"/>
            <a:ext cx="0" cy="8105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EE42FC8-CABE-F26E-53ED-8237A1D832D6}"/>
              </a:ext>
            </a:extLst>
          </p:cNvPr>
          <p:cNvSpPr txBox="1"/>
          <p:nvPr/>
        </p:nvSpPr>
        <p:spPr>
          <a:xfrm>
            <a:off x="6936361" y="5943047"/>
            <a:ext cx="48730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b="1" dirty="0">
                <a:latin typeface="Gill Sans"/>
              </a:rPr>
              <a:t>5: </a:t>
            </a:r>
            <a:r>
              <a:rPr lang="de-DE" sz="1600" i="1" dirty="0">
                <a:latin typeface="Gill Sans"/>
              </a:rPr>
              <a:t>J. Am. Chem. Soc. </a:t>
            </a:r>
            <a:r>
              <a:rPr lang="de-DE" sz="1600" b="1" dirty="0">
                <a:latin typeface="Gill Sans"/>
              </a:rPr>
              <a:t>2022</a:t>
            </a:r>
            <a:r>
              <a:rPr lang="de-DE" sz="1600" dirty="0">
                <a:latin typeface="Gill Sans"/>
              </a:rPr>
              <a:t>, </a:t>
            </a:r>
            <a:r>
              <a:rPr lang="de-DE" sz="1600" i="1" dirty="0">
                <a:latin typeface="Gill Sans"/>
              </a:rPr>
              <a:t>144</a:t>
            </a:r>
            <a:r>
              <a:rPr lang="de-DE" sz="1600" dirty="0">
                <a:latin typeface="Gill Sans"/>
              </a:rPr>
              <a:t>, 86.</a:t>
            </a:r>
          </a:p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de-DE" sz="1600" b="1" dirty="0">
                <a:latin typeface="Gill Sans"/>
              </a:rPr>
              <a:t>6: </a:t>
            </a:r>
            <a:r>
              <a:rPr lang="de-DE" sz="1600" i="1" dirty="0">
                <a:latin typeface="Gill Sans"/>
              </a:rPr>
              <a:t>Chem. Eur. J. </a:t>
            </a:r>
            <a:r>
              <a:rPr lang="de-DE" sz="1600" b="1" dirty="0">
                <a:latin typeface="Gill Sans"/>
              </a:rPr>
              <a:t>2017</a:t>
            </a:r>
            <a:r>
              <a:rPr lang="de-DE" sz="1600" dirty="0">
                <a:latin typeface="Gill Sans"/>
              </a:rPr>
              <a:t>, </a:t>
            </a:r>
            <a:r>
              <a:rPr lang="de-DE" sz="1600" i="1" dirty="0">
                <a:latin typeface="Gill Sans"/>
              </a:rPr>
              <a:t>23</a:t>
            </a:r>
            <a:r>
              <a:rPr lang="de-DE" sz="1600" dirty="0">
                <a:latin typeface="Gill Sans"/>
              </a:rPr>
              <a:t>, 15336</a:t>
            </a:r>
          </a:p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de-DE" sz="1600" b="1" dirty="0">
                <a:latin typeface="Gill Sans"/>
              </a:rPr>
              <a:t>7: </a:t>
            </a:r>
            <a:r>
              <a:rPr lang="de-DE" sz="1600" i="1" dirty="0">
                <a:latin typeface="Gill Sans"/>
              </a:rPr>
              <a:t>ChemRxiv</a:t>
            </a:r>
            <a:r>
              <a:rPr lang="de-DE" sz="1600" dirty="0">
                <a:latin typeface="Gill Sans"/>
              </a:rPr>
              <a:t>, </a:t>
            </a:r>
            <a:r>
              <a:rPr lang="de-DE" sz="1600" b="1" dirty="0">
                <a:latin typeface="Gill Sans"/>
              </a:rPr>
              <a:t>2023</a:t>
            </a:r>
            <a:r>
              <a:rPr lang="de-DE" sz="1600" dirty="0">
                <a:latin typeface="Gill Sans"/>
              </a:rPr>
              <a:t>, 10.26434/chemrxiv-2023-8jzsp </a:t>
            </a:r>
            <a:r>
              <a:rPr lang="en-US" sz="1600" dirty="0">
                <a:latin typeface="Gill Sans"/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F38118-E9EB-1842-0CBC-782B92B00B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434" y="2100285"/>
            <a:ext cx="9089136" cy="356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32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2100D-7B56-CD1E-05BB-77FD7F226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DBE8CD2-9D45-73F2-8B6C-00897D4BC90F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1A11497C-DB71-9845-622F-96864007A1B7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</a:t>
            </a:r>
            <a:r>
              <a:rPr lang="es-ES" sz="3600" dirty="0" err="1"/>
              <a:t>automation</a:t>
            </a:r>
            <a:r>
              <a:rPr lang="es-ES" sz="3600" dirty="0"/>
              <a:t> </a:t>
            </a:r>
            <a:r>
              <a:rPr lang="es-ES" sz="3600" dirty="0" err="1"/>
              <a:t>of</a:t>
            </a:r>
            <a:r>
              <a:rPr lang="es-ES" sz="3600" dirty="0"/>
              <a:t> QM </a:t>
            </a:r>
            <a:r>
              <a:rPr lang="es-ES" sz="3600" dirty="0" err="1"/>
              <a:t>protocols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7AB1278-BBB2-960F-4B49-B912614FC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15DA9C4E-8EC1-CE49-2421-18CB4D44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30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008787C2-6979-8A7C-C684-3D9C25CF1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F9A6801D-E508-C9F7-FDD8-F06F02F23E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44" y="1551824"/>
            <a:ext cx="11713257" cy="41833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A61EE1-78CF-5586-9187-E953662B01EF}"/>
              </a:ext>
            </a:extLst>
          </p:cNvPr>
          <p:cNvSpPr txBox="1"/>
          <p:nvPr/>
        </p:nvSpPr>
        <p:spPr>
          <a:xfrm>
            <a:off x="-15239" y="6274158"/>
            <a:ext cx="28309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i="1" dirty="0">
                <a:latin typeface="Gill Sans"/>
              </a:rPr>
              <a:t>Trends in Chem.</a:t>
            </a:r>
            <a:r>
              <a:rPr lang="en-US" sz="1600" dirty="0">
                <a:latin typeface="Gill Sans"/>
              </a:rPr>
              <a:t> </a:t>
            </a:r>
            <a:r>
              <a:rPr lang="en-US" sz="1600" b="1" dirty="0">
                <a:latin typeface="Gill Sans"/>
              </a:rPr>
              <a:t>2024</a:t>
            </a:r>
            <a:r>
              <a:rPr lang="en-US" sz="1600" dirty="0">
                <a:latin typeface="Gill Sans"/>
              </a:rPr>
              <a:t>, </a:t>
            </a:r>
            <a:r>
              <a:rPr lang="en-US" sz="1600" i="1" dirty="0">
                <a:latin typeface="Gill Sans"/>
              </a:rPr>
              <a:t>6</a:t>
            </a:r>
            <a:r>
              <a:rPr lang="en-US" sz="1600" dirty="0">
                <a:latin typeface="Gill Sans"/>
              </a:rPr>
              <a:t>, 459</a:t>
            </a:r>
          </a:p>
        </p:txBody>
      </p:sp>
      <p:pic>
        <p:nvPicPr>
          <p:cNvPr id="1026" name="Picture 2" descr="Prof. Dr. Kjell Jorner | ETH Zurich">
            <a:extLst>
              <a:ext uri="{FF2B5EF4-FFF2-40B4-BE49-F238E27FC236}">
                <a16:creationId xmlns:a16="http://schemas.microsoft.com/office/drawing/2014/main" id="{247E2F0C-3902-469E-C327-1B69EF21FB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3" b="24000"/>
          <a:stretch/>
        </p:blipFill>
        <p:spPr bwMode="auto">
          <a:xfrm>
            <a:off x="7224830" y="5407388"/>
            <a:ext cx="1374140" cy="1366657"/>
          </a:xfrm>
          <a:prstGeom prst="ellipse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46B62D-11B2-5F1E-2D9F-718A38718165}"/>
              </a:ext>
            </a:extLst>
          </p:cNvPr>
          <p:cNvSpPr txBox="1"/>
          <p:nvPr/>
        </p:nvSpPr>
        <p:spPr>
          <a:xfrm>
            <a:off x="5521719" y="6019746"/>
            <a:ext cx="1560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"/>
              </a:rPr>
              <a:t>Dr. Kjell </a:t>
            </a:r>
            <a:r>
              <a:rPr lang="en-US" dirty="0" err="1">
                <a:latin typeface="Gill Sans"/>
              </a:rPr>
              <a:t>Jorner</a:t>
            </a:r>
            <a:endParaRPr lang="en-US" dirty="0">
              <a:latin typeface="Gill Sa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B0BC9E-7CFD-2CAB-D280-5FC475BB1C9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7146"/>
          <a:stretch/>
        </p:blipFill>
        <p:spPr>
          <a:xfrm>
            <a:off x="9266161" y="5844381"/>
            <a:ext cx="2015948" cy="36003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C539E7D-DCD6-ED49-3EDC-F843EB5400AC}"/>
              </a:ext>
            </a:extLst>
          </p:cNvPr>
          <p:cNvSpPr/>
          <p:nvPr/>
        </p:nvSpPr>
        <p:spPr>
          <a:xfrm>
            <a:off x="236044" y="1551824"/>
            <a:ext cx="11795744" cy="2162922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E1E08A-D98C-7003-233B-01627ABE20CC}"/>
              </a:ext>
            </a:extLst>
          </p:cNvPr>
          <p:cNvSpPr/>
          <p:nvPr/>
        </p:nvSpPr>
        <p:spPr>
          <a:xfrm>
            <a:off x="137352" y="3658579"/>
            <a:ext cx="5691948" cy="2162922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70E72F9-974D-3E25-DB45-5EC6AB213E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68979" y="6242154"/>
            <a:ext cx="810312" cy="559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1881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FB731-3886-15DE-317C-F62152834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849249C-BB79-FCA3-478A-523C600FF3D5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7FAA4C8C-6810-E4D1-1F1E-1A884289861C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054AA612-D889-0AF6-104D-A50947C08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01ABB34E-FE89-4A27-EA5E-A14AADE54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31</a:t>
            </a:fld>
            <a:endParaRPr lang="en-US" sz="1400"/>
          </a:p>
        </p:txBody>
      </p:sp>
      <p:pic>
        <p:nvPicPr>
          <p:cNvPr id="7" name="Picture 6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4A48B048-35F9-2CF7-44AD-105F8A060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64FE13-83E1-E52B-1C89-7C9A5D6D5506}"/>
              </a:ext>
            </a:extLst>
          </p:cNvPr>
          <p:cNvSpPr txBox="1"/>
          <p:nvPr/>
        </p:nvSpPr>
        <p:spPr>
          <a:xfrm>
            <a:off x="-15239" y="6274158"/>
            <a:ext cx="28309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i="1" dirty="0">
                <a:latin typeface="Gill Sans"/>
              </a:rPr>
              <a:t>ACS </a:t>
            </a:r>
            <a:r>
              <a:rPr lang="en-US" sz="1600" i="1" dirty="0" err="1">
                <a:latin typeface="Gill Sans"/>
              </a:rPr>
              <a:t>Catal</a:t>
            </a:r>
            <a:r>
              <a:rPr lang="en-US" sz="1600" i="1" dirty="0">
                <a:latin typeface="Gill Sans"/>
              </a:rPr>
              <a:t>.</a:t>
            </a:r>
            <a:r>
              <a:rPr lang="en-US" sz="1600" dirty="0">
                <a:latin typeface="Gill Sans"/>
              </a:rPr>
              <a:t> </a:t>
            </a:r>
            <a:r>
              <a:rPr lang="en-US" sz="1600" b="1" dirty="0">
                <a:latin typeface="Gill Sans"/>
              </a:rPr>
              <a:t>2026</a:t>
            </a:r>
            <a:r>
              <a:rPr lang="en-US" sz="1600" dirty="0">
                <a:latin typeface="Gill Sans"/>
              </a:rPr>
              <a:t>, </a:t>
            </a:r>
            <a:r>
              <a:rPr lang="en-US" sz="1600" i="1" dirty="0">
                <a:latin typeface="Gill Sans"/>
              </a:rPr>
              <a:t>accepted</a:t>
            </a:r>
            <a:endParaRPr lang="en-US" sz="1600" dirty="0">
              <a:latin typeface="Gill Sans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0ABE200-C347-EA45-BDD2-9BDDF48AD6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8327" y="1714864"/>
            <a:ext cx="6055345" cy="412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9432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9F13E-85DF-3D7C-0D00-99E8E45F7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2BE639F-D50C-1F79-D4CD-AE96DFDB8352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3270A0A-9F02-6324-E214-883B4F9F964D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F0F69F39-E791-F65C-1E6A-721FDE23E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B1DB94CC-7B5B-F827-D473-DE47A1394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32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D9793EB3-8BC9-00DF-7C57-CD572E075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58F9A645-77DD-A346-3320-476BF3E418C3}"/>
              </a:ext>
            </a:extLst>
          </p:cNvPr>
          <p:cNvSpPr>
            <a:spLocks/>
          </p:cNvSpPr>
          <p:nvPr/>
        </p:nvSpPr>
        <p:spPr bwMode="auto">
          <a:xfrm>
            <a:off x="2155056" y="3527122"/>
            <a:ext cx="9876732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1.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xTB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descriptors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were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not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good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enough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(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low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variety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)</a:t>
            </a:r>
          </a:p>
          <a:p>
            <a:pPr marL="44978">
              <a:buSzPct val="77000"/>
            </a:pP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2.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Too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many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other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descriptors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with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hard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interpretation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(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ie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. RDKit)</a:t>
            </a:r>
          </a:p>
        </p:txBody>
      </p:sp>
      <p:pic>
        <p:nvPicPr>
          <p:cNvPr id="1032" name="Picture 8" descr="191,200+ Goals Icon Stock Illustrations, Royalty-Free Vector Graphics &amp;  Clip Art - iStock | Smart goals icon, Financial goals icon, Business goals  icon">
            <a:extLst>
              <a:ext uri="{FF2B5EF4-FFF2-40B4-BE49-F238E27FC236}">
                <a16:creationId xmlns:a16="http://schemas.microsoft.com/office/drawing/2014/main" id="{4BFF8B59-4031-DCF5-BF08-558405AB81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22133" r="12100" b="21675"/>
          <a:stretch/>
        </p:blipFill>
        <p:spPr bwMode="auto">
          <a:xfrm>
            <a:off x="778451" y="1487562"/>
            <a:ext cx="891540" cy="774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Warning symbol Images - Free Download on Freepik">
            <a:extLst>
              <a:ext uri="{FF2B5EF4-FFF2-40B4-BE49-F238E27FC236}">
                <a16:creationId xmlns:a16="http://schemas.microsoft.com/office/drawing/2014/main" id="{3FC2EE06-0330-AC24-756E-10538032C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34" y="3304415"/>
            <a:ext cx="746210" cy="74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5">
            <a:extLst>
              <a:ext uri="{FF2B5EF4-FFF2-40B4-BE49-F238E27FC236}">
                <a16:creationId xmlns:a16="http://schemas.microsoft.com/office/drawing/2014/main" id="{57998411-ABF8-BAD5-AB36-8C4D9C6C3E1E}"/>
              </a:ext>
            </a:extLst>
          </p:cNvPr>
          <p:cNvSpPr>
            <a:spLocks/>
          </p:cNvSpPr>
          <p:nvPr/>
        </p:nvSpPr>
        <p:spPr bwMode="auto">
          <a:xfrm>
            <a:off x="776797" y="2355456"/>
            <a:ext cx="902819" cy="373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 algn="ctr">
              <a:buSzPct val="77000"/>
            </a:pP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GOAL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E2CBA9E6-B333-7D86-D851-B379BE33B432}"/>
              </a:ext>
            </a:extLst>
          </p:cNvPr>
          <p:cNvSpPr>
            <a:spLocks/>
          </p:cNvSpPr>
          <p:nvPr/>
        </p:nvSpPr>
        <p:spPr bwMode="auto">
          <a:xfrm>
            <a:off x="367120" y="4202644"/>
            <a:ext cx="170306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 algn="ctr">
              <a:buSzPct val="77000"/>
            </a:pP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PROBLEMS</a:t>
            </a: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F817FF77-AA4B-DFBD-662A-F6FF4A85E575}"/>
              </a:ext>
            </a:extLst>
          </p:cNvPr>
          <p:cNvSpPr>
            <a:spLocks/>
          </p:cNvSpPr>
          <p:nvPr/>
        </p:nvSpPr>
        <p:spPr bwMode="auto">
          <a:xfrm>
            <a:off x="2155056" y="1790501"/>
            <a:ext cx="9606414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1.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Design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cost-efficient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workflows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to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promote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the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use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of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ML in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chemistry</a:t>
            </a:r>
            <a:endParaRPr lang="es-ES" sz="2400" dirty="0">
              <a:latin typeface="Gill Sans" charset="0"/>
              <a:cs typeface="Gill Sans" charset="0"/>
              <a:sym typeface="Gill Sans" charset="0"/>
            </a:endParaRPr>
          </a:p>
          <a:p>
            <a:pPr marL="44978">
              <a:buSzPct val="77000"/>
            </a:pP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2.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Avoid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HPC use (Gaussian, ORCA, etc.)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12BE0D-A353-9514-79B6-21DB77910C38}"/>
              </a:ext>
            </a:extLst>
          </p:cNvPr>
          <p:cNvSpPr txBox="1"/>
          <p:nvPr/>
        </p:nvSpPr>
        <p:spPr>
          <a:xfrm>
            <a:off x="-15239" y="6274158"/>
            <a:ext cx="28309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i="1" dirty="0">
                <a:latin typeface="Gill Sans"/>
              </a:rPr>
              <a:t>ACS </a:t>
            </a:r>
            <a:r>
              <a:rPr lang="en-US" sz="1600" i="1" dirty="0" err="1">
                <a:latin typeface="Gill Sans"/>
              </a:rPr>
              <a:t>Catal</a:t>
            </a:r>
            <a:r>
              <a:rPr lang="en-US" sz="1600" i="1" dirty="0">
                <a:latin typeface="Gill Sans"/>
              </a:rPr>
              <a:t>.</a:t>
            </a:r>
            <a:r>
              <a:rPr lang="en-US" sz="1600" dirty="0">
                <a:latin typeface="Gill Sans"/>
              </a:rPr>
              <a:t> </a:t>
            </a:r>
            <a:r>
              <a:rPr lang="en-US" sz="1600" b="1" dirty="0">
                <a:latin typeface="Gill Sans"/>
              </a:rPr>
              <a:t>2026</a:t>
            </a:r>
            <a:r>
              <a:rPr lang="en-US" sz="1600" dirty="0">
                <a:latin typeface="Gill Sans"/>
              </a:rPr>
              <a:t>, </a:t>
            </a:r>
            <a:r>
              <a:rPr lang="en-US" sz="1600" i="1" dirty="0">
                <a:latin typeface="Gill Sans"/>
              </a:rPr>
              <a:t>accepted</a:t>
            </a:r>
            <a:endParaRPr lang="en-US" sz="1600" dirty="0">
              <a:latin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073834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BC850-807D-290D-587B-131C9F939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E387835-1025-4C95-D315-54A4C4A70C2A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4303B22B-40DF-2AFB-DA96-B0B5B0851B8C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BDC3B982-FDE5-3217-6254-76305D5D7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0D53E421-FA97-9EAE-874F-A80F4A7D1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33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91AD00D6-C8B6-3CA3-FE18-64E590BE3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89792217-6D7D-5654-7E8C-5C1199B59B2D}"/>
              </a:ext>
            </a:extLst>
          </p:cNvPr>
          <p:cNvSpPr>
            <a:spLocks/>
          </p:cNvSpPr>
          <p:nvPr/>
        </p:nvSpPr>
        <p:spPr bwMode="auto">
          <a:xfrm>
            <a:off x="355336" y="1148365"/>
            <a:ext cx="115455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AQME v2 –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adapted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to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create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a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wide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variety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of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xTB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-MORFEUS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descriptors</a:t>
            </a:r>
            <a:endParaRPr lang="es-ES" sz="2400" b="1" dirty="0">
              <a:latin typeface="Gill Sans" charset="0"/>
              <a:cs typeface="Gill Sans" charset="0"/>
              <a:sym typeface="Gill Sans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D29594-CF90-B1C8-63F5-DD15AB75EA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1643"/>
          <a:stretch/>
        </p:blipFill>
        <p:spPr>
          <a:xfrm>
            <a:off x="399700" y="2434217"/>
            <a:ext cx="5482898" cy="30278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5F1A32-9290-C2D8-B86A-594251B65254}"/>
              </a:ext>
            </a:extLst>
          </p:cNvPr>
          <p:cNvSpPr txBox="1"/>
          <p:nvPr/>
        </p:nvSpPr>
        <p:spPr>
          <a:xfrm>
            <a:off x="-15239" y="6274158"/>
            <a:ext cx="28309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i="1" dirty="0">
                <a:latin typeface="Gill Sans"/>
              </a:rPr>
              <a:t>ACS </a:t>
            </a:r>
            <a:r>
              <a:rPr lang="en-US" sz="1600" i="1" dirty="0" err="1">
                <a:latin typeface="Gill Sans"/>
              </a:rPr>
              <a:t>Catal</a:t>
            </a:r>
            <a:r>
              <a:rPr lang="en-US" sz="1600" i="1" dirty="0">
                <a:latin typeface="Gill Sans"/>
              </a:rPr>
              <a:t>.</a:t>
            </a:r>
            <a:r>
              <a:rPr lang="en-US" sz="1600" dirty="0">
                <a:latin typeface="Gill Sans"/>
              </a:rPr>
              <a:t> </a:t>
            </a:r>
            <a:r>
              <a:rPr lang="en-US" sz="1600" b="1" dirty="0">
                <a:latin typeface="Gill Sans"/>
              </a:rPr>
              <a:t>2026</a:t>
            </a:r>
            <a:r>
              <a:rPr lang="en-US" sz="1600" dirty="0">
                <a:latin typeface="Gill Sans"/>
              </a:rPr>
              <a:t>, </a:t>
            </a:r>
            <a:r>
              <a:rPr lang="en-US" sz="1600" i="1" dirty="0">
                <a:latin typeface="Gill Sans"/>
              </a:rPr>
              <a:t>accepted</a:t>
            </a:r>
            <a:endParaRPr lang="en-US" sz="1600" dirty="0">
              <a:latin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10927024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4179D-277B-81CC-F300-0BE4F458C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30C192A-B9F8-ED48-94CA-7B477098860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32766E27-EE32-2AA5-776D-B1ECC6C2FA16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FBF64CD3-01DE-A50E-D0A9-1F3C4C247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AF8BA6F4-7AA4-9CE4-D983-A60082EB8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34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A02E64EB-EFC8-3180-65FA-F1A06C010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5">
            <a:extLst>
              <a:ext uri="{FF2B5EF4-FFF2-40B4-BE49-F238E27FC236}">
                <a16:creationId xmlns:a16="http://schemas.microsoft.com/office/drawing/2014/main" id="{E30ED8F4-AEE7-8BE5-75CC-4D0259937CB4}"/>
              </a:ext>
            </a:extLst>
          </p:cNvPr>
          <p:cNvSpPr>
            <a:spLocks/>
          </p:cNvSpPr>
          <p:nvPr/>
        </p:nvSpPr>
        <p:spPr bwMode="auto">
          <a:xfrm>
            <a:off x="355336" y="1148365"/>
            <a:ext cx="115455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AQME v2 –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adapted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to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create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a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wide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variety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of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xTB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-MORFEUS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descriptors</a:t>
            </a:r>
            <a:endParaRPr lang="es-ES" sz="2400" b="1" dirty="0">
              <a:latin typeface="Gill Sans" charset="0"/>
              <a:cs typeface="Gill Sans" charset="0"/>
              <a:sym typeface="Gill Sans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A4155F-9F80-D157-EC75-9D832645D9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1643"/>
          <a:stretch/>
        </p:blipFill>
        <p:spPr>
          <a:xfrm>
            <a:off x="399700" y="2434217"/>
            <a:ext cx="5482898" cy="30278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37F665B-BD03-409E-94F8-DA630312024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6125"/>
          <a:stretch/>
        </p:blipFill>
        <p:spPr>
          <a:xfrm>
            <a:off x="6540841" y="3351785"/>
            <a:ext cx="5369554" cy="1602846"/>
          </a:xfrm>
          <a:prstGeom prst="rect">
            <a:avLst/>
          </a:prstGeom>
        </p:spPr>
      </p:pic>
      <p:sp>
        <p:nvSpPr>
          <p:cNvPr id="14" name="Rectangle 5">
            <a:extLst>
              <a:ext uri="{FF2B5EF4-FFF2-40B4-BE49-F238E27FC236}">
                <a16:creationId xmlns:a16="http://schemas.microsoft.com/office/drawing/2014/main" id="{C8276A28-EC77-0D9A-15CA-2BB3444A67F5}"/>
              </a:ext>
            </a:extLst>
          </p:cNvPr>
          <p:cNvSpPr>
            <a:spLocks/>
          </p:cNvSpPr>
          <p:nvPr/>
        </p:nvSpPr>
        <p:spPr bwMode="auto">
          <a:xfrm>
            <a:off x="6419448" y="5266233"/>
            <a:ext cx="561234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 algn="ctr">
              <a:buSzPct val="77000"/>
            </a:pPr>
            <a:r>
              <a:rPr lang="es-ES" b="1" dirty="0">
                <a:latin typeface="Gill Sans" charset="0"/>
                <a:cs typeface="Gill Sans" charset="0"/>
                <a:sym typeface="Gill Sans" charset="0"/>
              </a:rPr>
              <a:t>AQME </a:t>
            </a:r>
            <a:r>
              <a:rPr lang="es-ES" b="1" dirty="0" err="1">
                <a:latin typeface="Gill Sans" charset="0"/>
                <a:cs typeface="Gill Sans" charset="0"/>
                <a:sym typeface="Gill Sans" charset="0"/>
              </a:rPr>
              <a:t>workflow</a:t>
            </a:r>
            <a:r>
              <a:rPr lang="es-ES" b="1" dirty="0">
                <a:latin typeface="Gill Sans" charset="0"/>
                <a:cs typeface="Gill Sans" charset="0"/>
                <a:sym typeface="Gill Sans" charset="0"/>
              </a:rPr>
              <a:t>:</a:t>
            </a:r>
          </a:p>
          <a:p>
            <a:pPr marL="44978" algn="ctr">
              <a:buSzPct val="77000"/>
            </a:pPr>
            <a:r>
              <a:rPr lang="es-ES" dirty="0" err="1">
                <a:latin typeface="Gill Sans" charset="0"/>
                <a:cs typeface="Gill Sans" charset="0"/>
                <a:sym typeface="Gill Sans" charset="0"/>
              </a:rPr>
              <a:t>Organic</a:t>
            </a:r>
            <a:r>
              <a:rPr lang="es-ES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dirty="0" err="1">
                <a:latin typeface="Gill Sans" charset="0"/>
                <a:cs typeface="Gill Sans" charset="0"/>
                <a:sym typeface="Gill Sans" charset="0"/>
              </a:rPr>
              <a:t>species</a:t>
            </a:r>
            <a:r>
              <a:rPr lang="es-ES" dirty="0">
                <a:latin typeface="Gill Sans" charset="0"/>
                <a:cs typeface="Gill Sans" charset="0"/>
                <a:sym typeface="Gill Sans" charset="0"/>
              </a:rPr>
              <a:t>, </a:t>
            </a:r>
            <a:r>
              <a:rPr lang="es-ES" dirty="0" err="1">
                <a:latin typeface="Gill Sans" charset="0"/>
                <a:cs typeface="Gill Sans" charset="0"/>
                <a:sym typeface="Gill Sans" charset="0"/>
              </a:rPr>
              <a:t>organometallic</a:t>
            </a:r>
            <a:r>
              <a:rPr lang="es-ES" dirty="0">
                <a:latin typeface="Gill Sans" charset="0"/>
                <a:cs typeface="Gill Sans" charset="0"/>
                <a:sym typeface="Gill Sans" charset="0"/>
              </a:rPr>
              <a:t> complexes, </a:t>
            </a:r>
            <a:r>
              <a:rPr lang="es-ES" dirty="0" err="1">
                <a:latin typeface="Gill Sans" charset="0"/>
                <a:cs typeface="Gill Sans" charset="0"/>
                <a:sym typeface="Gill Sans" charset="0"/>
              </a:rPr>
              <a:t>radicals</a:t>
            </a:r>
            <a:r>
              <a:rPr lang="es-ES" dirty="0">
                <a:latin typeface="Gill Sans" charset="0"/>
                <a:cs typeface="Gill Sans" charset="0"/>
                <a:sym typeface="Gill Sans" charset="0"/>
              </a:rPr>
              <a:t>, etc.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85C110-DDAD-AE7E-DB17-478B4478856D}"/>
              </a:ext>
            </a:extLst>
          </p:cNvPr>
          <p:cNvSpPr txBox="1"/>
          <p:nvPr/>
        </p:nvSpPr>
        <p:spPr>
          <a:xfrm>
            <a:off x="-15239" y="6274158"/>
            <a:ext cx="28309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i="1" dirty="0">
                <a:latin typeface="Gill Sans"/>
              </a:rPr>
              <a:t>ACS </a:t>
            </a:r>
            <a:r>
              <a:rPr lang="en-US" sz="1600" i="1" dirty="0" err="1">
                <a:latin typeface="Gill Sans"/>
              </a:rPr>
              <a:t>Catal</a:t>
            </a:r>
            <a:r>
              <a:rPr lang="en-US" sz="1600" i="1" dirty="0">
                <a:latin typeface="Gill Sans"/>
              </a:rPr>
              <a:t>.</a:t>
            </a:r>
            <a:r>
              <a:rPr lang="en-US" sz="1600" dirty="0">
                <a:latin typeface="Gill Sans"/>
              </a:rPr>
              <a:t> </a:t>
            </a:r>
            <a:r>
              <a:rPr lang="en-US" sz="1600" b="1" dirty="0">
                <a:latin typeface="Gill Sans"/>
              </a:rPr>
              <a:t>2026</a:t>
            </a:r>
            <a:r>
              <a:rPr lang="en-US" sz="1600" dirty="0">
                <a:latin typeface="Gill Sans"/>
              </a:rPr>
              <a:t>, </a:t>
            </a:r>
            <a:r>
              <a:rPr lang="en-US" sz="1600" i="1" dirty="0">
                <a:latin typeface="Gill Sans"/>
              </a:rPr>
              <a:t>accepted</a:t>
            </a:r>
            <a:endParaRPr lang="en-US" sz="1600" dirty="0">
              <a:latin typeface="Gill Sans"/>
            </a:endParaRPr>
          </a:p>
        </p:txBody>
      </p:sp>
    </p:spTree>
    <p:extLst>
      <p:ext uri="{BB962C8B-B14F-4D97-AF65-F5344CB8AC3E}">
        <p14:creationId xmlns:p14="http://schemas.microsoft.com/office/powerpoint/2010/main" val="3956490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4E87E36-E46B-E1BC-748D-17040D6ED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35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A0CD9499-0471-C969-DDBE-5658FEAD1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DADDCDE-7E30-DC97-AA60-770133D8DD98}"/>
              </a:ext>
            </a:extLst>
          </p:cNvPr>
          <p:cNvSpPr/>
          <p:nvPr/>
        </p:nvSpPr>
        <p:spPr>
          <a:xfrm>
            <a:off x="338089" y="1681392"/>
            <a:ext cx="28342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600" b="1" u="sng" dirty="0">
                <a:latin typeface="Gill Sans"/>
                <a:cs typeface="Arial" panose="020B0604020202020204" pitchFamily="34" charset="0"/>
              </a:rPr>
              <a:t>Input:</a:t>
            </a:r>
            <a:r>
              <a:rPr lang="pt-BR" sz="1600" dirty="0">
                <a:latin typeface="Gill Sans"/>
                <a:cs typeface="Arial" panose="020B0604020202020204" pitchFamily="34" charset="0"/>
              </a:rPr>
              <a:t> CSV with SMILES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27AD04B8-477D-C8CD-7C9B-EB20999F4480}"/>
              </a:ext>
            </a:extLst>
          </p:cNvPr>
          <p:cNvSpPr>
            <a:spLocks/>
          </p:cNvSpPr>
          <p:nvPr/>
        </p:nvSpPr>
        <p:spPr bwMode="auto">
          <a:xfrm>
            <a:off x="124478" y="1193984"/>
            <a:ext cx="54511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n-US" sz="2400" b="1" dirty="0">
                <a:latin typeface="Gill Sans" charset="0"/>
                <a:cs typeface="Gill Sans" charset="0"/>
                <a:sym typeface="Gill Sans" charset="0"/>
              </a:rPr>
              <a:t>Automated generation of predictors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C158A84-E089-6DFE-7014-09002D997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012" y="1382821"/>
            <a:ext cx="6845584" cy="197269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B45A9AC-B501-A8EA-AA4F-0F604F79C5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330" y="2179495"/>
            <a:ext cx="2522220" cy="12725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AEE9E9-4D03-CCAA-4A46-FDFC66E60B27}"/>
              </a:ext>
            </a:extLst>
          </p:cNvPr>
          <p:cNvSpPr txBox="1"/>
          <p:nvPr/>
        </p:nvSpPr>
        <p:spPr>
          <a:xfrm>
            <a:off x="129443" y="6413901"/>
            <a:ext cx="102551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i="1" dirty="0">
                <a:latin typeface="Gill Sans"/>
              </a:rPr>
              <a:t>WIREs. </a:t>
            </a:r>
            <a:r>
              <a:rPr lang="en-US" sz="1600" i="1" dirty="0" err="1">
                <a:latin typeface="Gill Sans"/>
              </a:rPr>
              <a:t>Comput</a:t>
            </a:r>
            <a:r>
              <a:rPr lang="en-US" sz="1600" i="1" dirty="0">
                <a:latin typeface="Gill Sans"/>
              </a:rPr>
              <a:t>. Mol. Sci. </a:t>
            </a:r>
            <a:r>
              <a:rPr lang="en-US" sz="1600" b="1" dirty="0">
                <a:latin typeface="Gill Sans"/>
              </a:rPr>
              <a:t>2024</a:t>
            </a:r>
            <a:r>
              <a:rPr lang="en-US" sz="1600" dirty="0">
                <a:latin typeface="Gill Sans"/>
              </a:rPr>
              <a:t>, </a:t>
            </a:r>
            <a:r>
              <a:rPr lang="en-US" sz="1600" i="1" dirty="0">
                <a:latin typeface="Gill Sans"/>
              </a:rPr>
              <a:t>14</a:t>
            </a:r>
            <a:r>
              <a:rPr lang="en-US" sz="1600" dirty="0">
                <a:latin typeface="Gill Sans"/>
              </a:rPr>
              <a:t>, e1733</a:t>
            </a:r>
          </a:p>
        </p:txBody>
      </p:sp>
    </p:spTree>
    <p:extLst>
      <p:ext uri="{BB962C8B-B14F-4D97-AF65-F5344CB8AC3E}">
        <p14:creationId xmlns:p14="http://schemas.microsoft.com/office/powerpoint/2010/main" val="13995888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4E87E36-E46B-E1BC-748D-17040D6ED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36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A0CD9499-0471-C969-DDBE-5658FEAD1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lecha: doblada hacia arriba 1">
            <a:extLst>
              <a:ext uri="{FF2B5EF4-FFF2-40B4-BE49-F238E27FC236}">
                <a16:creationId xmlns:a16="http://schemas.microsoft.com/office/drawing/2014/main" id="{798031EF-5872-4E7C-89CD-F8A71204FC55}"/>
              </a:ext>
            </a:extLst>
          </p:cNvPr>
          <p:cNvSpPr/>
          <p:nvPr/>
        </p:nvSpPr>
        <p:spPr>
          <a:xfrm rot="10800000">
            <a:off x="2913115" y="2184222"/>
            <a:ext cx="1903740" cy="1425476"/>
          </a:xfrm>
          <a:prstGeom prst="bentUpArrow">
            <a:avLst/>
          </a:prstGeom>
          <a:solidFill>
            <a:srgbClr val="E1D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2047" tIns="161365" rIns="242047" bIns="161365" rtlCol="0" anchor="ctr"/>
          <a:lstStyle/>
          <a:p>
            <a:pPr algn="ctr"/>
            <a:endParaRPr lang="es-ES" sz="1588" dirty="0">
              <a:latin typeface="Proxima Nova" charset="0"/>
              <a:ea typeface="Proxima Nova" charset="0"/>
              <a:cs typeface="Proxima Nova" charset="0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7CC04363-73E1-6E99-BF71-E1C2DF509D79}"/>
              </a:ext>
            </a:extLst>
          </p:cNvPr>
          <p:cNvSpPr>
            <a:spLocks/>
          </p:cNvSpPr>
          <p:nvPr/>
        </p:nvSpPr>
        <p:spPr bwMode="auto">
          <a:xfrm>
            <a:off x="2981695" y="1804664"/>
            <a:ext cx="1903740" cy="325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57799" bIns="0">
            <a:spAutoFit/>
          </a:bodyPr>
          <a:lstStyle/>
          <a:p>
            <a:pPr marL="39689">
              <a:buSzPct val="77000"/>
            </a:pPr>
            <a:r>
              <a:rPr lang="es-ES" sz="2118" b="1" dirty="0">
                <a:latin typeface="Gill Sans" charset="0"/>
                <a:cs typeface="Gill Sans" charset="0"/>
                <a:sym typeface="Gill Sans" charset="0"/>
              </a:rPr>
              <a:t>1 </a:t>
            </a:r>
            <a:r>
              <a:rPr lang="es-ES" sz="2118" b="1" dirty="0" err="1">
                <a:latin typeface="Gill Sans" charset="0"/>
                <a:cs typeface="Gill Sans" charset="0"/>
                <a:sym typeface="Gill Sans" charset="0"/>
              </a:rPr>
              <a:t>command</a:t>
            </a:r>
            <a:r>
              <a:rPr lang="es-ES" sz="2118" b="1" dirty="0">
                <a:latin typeface="Gill Sans" charset="0"/>
                <a:cs typeface="Gill Sans" charset="0"/>
                <a:sym typeface="Gill Sans" charset="0"/>
              </a:rPr>
              <a:t> line</a:t>
            </a:r>
            <a:endParaRPr lang="en-US" sz="2118" b="1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ADDCDE-7E30-DC97-AA60-770133D8DD98}"/>
              </a:ext>
            </a:extLst>
          </p:cNvPr>
          <p:cNvSpPr/>
          <p:nvPr/>
        </p:nvSpPr>
        <p:spPr>
          <a:xfrm>
            <a:off x="338089" y="1681392"/>
            <a:ext cx="28342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600" b="1" u="sng" dirty="0">
                <a:latin typeface="Gill Sans"/>
                <a:cs typeface="Arial" panose="020B0604020202020204" pitchFamily="34" charset="0"/>
              </a:rPr>
              <a:t>Input:</a:t>
            </a:r>
            <a:r>
              <a:rPr lang="pt-BR" sz="1600" dirty="0">
                <a:latin typeface="Gill Sans"/>
                <a:cs typeface="Arial" panose="020B0604020202020204" pitchFamily="34" charset="0"/>
              </a:rPr>
              <a:t> CSV with SMILES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27AD04B8-477D-C8CD-7C9B-EB20999F4480}"/>
              </a:ext>
            </a:extLst>
          </p:cNvPr>
          <p:cNvSpPr>
            <a:spLocks/>
          </p:cNvSpPr>
          <p:nvPr/>
        </p:nvSpPr>
        <p:spPr bwMode="auto">
          <a:xfrm>
            <a:off x="124478" y="1193984"/>
            <a:ext cx="54511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n-US" sz="2400" b="1" dirty="0">
                <a:latin typeface="Gill Sans" charset="0"/>
                <a:cs typeface="Gill Sans" charset="0"/>
                <a:sym typeface="Gill Sans" charset="0"/>
              </a:rPr>
              <a:t>Automated generation of predictors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C158A84-E089-6DFE-7014-09002D997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012" y="1382821"/>
            <a:ext cx="6845584" cy="197269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B45A9AC-B501-A8EA-AA4F-0F604F79C5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330" y="2179495"/>
            <a:ext cx="2522220" cy="12725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721316-95DC-DDA6-2282-391A6070B8E6}"/>
              </a:ext>
            </a:extLst>
          </p:cNvPr>
          <p:cNvSpPr txBox="1"/>
          <p:nvPr/>
        </p:nvSpPr>
        <p:spPr>
          <a:xfrm>
            <a:off x="129443" y="6413901"/>
            <a:ext cx="102551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bg1">
                  <a:lumMod val="65000"/>
                </a:schemeClr>
              </a:buClr>
              <a:buSzPct val="77000"/>
            </a:pPr>
            <a:r>
              <a:rPr lang="en-US" sz="1600" i="1" dirty="0">
                <a:latin typeface="Gill Sans"/>
              </a:rPr>
              <a:t>WIREs. </a:t>
            </a:r>
            <a:r>
              <a:rPr lang="en-US" sz="1600" i="1" dirty="0" err="1">
                <a:latin typeface="Gill Sans"/>
              </a:rPr>
              <a:t>Comput</a:t>
            </a:r>
            <a:r>
              <a:rPr lang="en-US" sz="1600" i="1" dirty="0">
                <a:latin typeface="Gill Sans"/>
              </a:rPr>
              <a:t>. Mol. Sci. </a:t>
            </a:r>
            <a:r>
              <a:rPr lang="en-US" sz="1600" b="1" dirty="0">
                <a:latin typeface="Gill Sans"/>
              </a:rPr>
              <a:t>2024</a:t>
            </a:r>
            <a:r>
              <a:rPr lang="en-US" sz="1600" dirty="0">
                <a:latin typeface="Gill Sans"/>
              </a:rPr>
              <a:t>, </a:t>
            </a:r>
            <a:r>
              <a:rPr lang="en-US" sz="1600" i="1" dirty="0">
                <a:latin typeface="Gill Sans"/>
              </a:rPr>
              <a:t>14</a:t>
            </a:r>
            <a:r>
              <a:rPr lang="en-US" sz="1600" dirty="0">
                <a:latin typeface="Gill Sans"/>
              </a:rPr>
              <a:t>, e1733</a:t>
            </a:r>
          </a:p>
        </p:txBody>
      </p:sp>
    </p:spTree>
    <p:extLst>
      <p:ext uri="{BB962C8B-B14F-4D97-AF65-F5344CB8AC3E}">
        <p14:creationId xmlns:p14="http://schemas.microsoft.com/office/powerpoint/2010/main" val="3239773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88BFD8E-E7B2-E487-44C5-1F2FFF706B1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E37B96C-198D-B911-5A28-ED15B2EB853B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E002E0D0-AD2E-BE6A-B724-EFB613891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4E87E36-E46B-E1BC-748D-17040D6ED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37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A0CD9499-0471-C969-DDBE-5658FEAD1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lecha: doblada hacia arriba 1">
            <a:extLst>
              <a:ext uri="{FF2B5EF4-FFF2-40B4-BE49-F238E27FC236}">
                <a16:creationId xmlns:a16="http://schemas.microsoft.com/office/drawing/2014/main" id="{798031EF-5872-4E7C-89CD-F8A71204FC55}"/>
              </a:ext>
            </a:extLst>
          </p:cNvPr>
          <p:cNvSpPr/>
          <p:nvPr/>
        </p:nvSpPr>
        <p:spPr>
          <a:xfrm rot="10800000">
            <a:off x="2913115" y="2184222"/>
            <a:ext cx="1903740" cy="1425476"/>
          </a:xfrm>
          <a:prstGeom prst="bentUpArrow">
            <a:avLst/>
          </a:prstGeom>
          <a:solidFill>
            <a:srgbClr val="E1D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42047" tIns="161365" rIns="242047" bIns="161365" rtlCol="0" anchor="ctr"/>
          <a:lstStyle/>
          <a:p>
            <a:pPr algn="ctr"/>
            <a:endParaRPr lang="es-ES" sz="1588" dirty="0">
              <a:latin typeface="Proxima Nova" charset="0"/>
              <a:ea typeface="Proxima Nova" charset="0"/>
              <a:cs typeface="Proxima Nova" charset="0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7CC04363-73E1-6E99-BF71-E1C2DF509D79}"/>
              </a:ext>
            </a:extLst>
          </p:cNvPr>
          <p:cNvSpPr>
            <a:spLocks/>
          </p:cNvSpPr>
          <p:nvPr/>
        </p:nvSpPr>
        <p:spPr bwMode="auto">
          <a:xfrm>
            <a:off x="2981695" y="1804664"/>
            <a:ext cx="1903740" cy="325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57799" bIns="0">
            <a:spAutoFit/>
          </a:bodyPr>
          <a:lstStyle/>
          <a:p>
            <a:pPr marL="39689">
              <a:buSzPct val="77000"/>
            </a:pPr>
            <a:r>
              <a:rPr lang="es-ES" sz="2118" b="1" dirty="0">
                <a:latin typeface="Gill Sans" charset="0"/>
                <a:cs typeface="Gill Sans" charset="0"/>
                <a:sym typeface="Gill Sans" charset="0"/>
              </a:rPr>
              <a:t>1 </a:t>
            </a:r>
            <a:r>
              <a:rPr lang="es-ES" sz="2118" b="1" dirty="0" err="1">
                <a:latin typeface="Gill Sans" charset="0"/>
                <a:cs typeface="Gill Sans" charset="0"/>
                <a:sym typeface="Gill Sans" charset="0"/>
              </a:rPr>
              <a:t>command</a:t>
            </a:r>
            <a:r>
              <a:rPr lang="es-ES" sz="2118" b="1" dirty="0">
                <a:latin typeface="Gill Sans" charset="0"/>
                <a:cs typeface="Gill Sans" charset="0"/>
                <a:sym typeface="Gill Sans" charset="0"/>
              </a:rPr>
              <a:t> line</a:t>
            </a:r>
            <a:endParaRPr lang="en-US" sz="2118" b="1" dirty="0">
              <a:latin typeface="Gill Sans" charset="0"/>
              <a:cs typeface="Gill Sans" charset="0"/>
              <a:sym typeface="Gill Sans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ADDCDE-7E30-DC97-AA60-770133D8DD98}"/>
              </a:ext>
            </a:extLst>
          </p:cNvPr>
          <p:cNvSpPr/>
          <p:nvPr/>
        </p:nvSpPr>
        <p:spPr>
          <a:xfrm>
            <a:off x="338089" y="1681392"/>
            <a:ext cx="28342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600" b="1" u="sng" dirty="0">
                <a:latin typeface="Gill Sans"/>
                <a:cs typeface="Arial" panose="020B0604020202020204" pitchFamily="34" charset="0"/>
              </a:rPr>
              <a:t>Input:</a:t>
            </a:r>
            <a:r>
              <a:rPr lang="pt-BR" sz="1600" dirty="0">
                <a:latin typeface="Gill Sans"/>
                <a:cs typeface="Arial" panose="020B0604020202020204" pitchFamily="34" charset="0"/>
              </a:rPr>
              <a:t> CSV with SMILES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27AD04B8-477D-C8CD-7C9B-EB20999F4480}"/>
              </a:ext>
            </a:extLst>
          </p:cNvPr>
          <p:cNvSpPr>
            <a:spLocks/>
          </p:cNvSpPr>
          <p:nvPr/>
        </p:nvSpPr>
        <p:spPr bwMode="auto">
          <a:xfrm>
            <a:off x="124478" y="1193984"/>
            <a:ext cx="54511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n-US" sz="2400" b="1" dirty="0">
                <a:latin typeface="Gill Sans" charset="0"/>
                <a:cs typeface="Gill Sans" charset="0"/>
                <a:sym typeface="Gill Sans" charset="0"/>
              </a:rPr>
              <a:t>Automated generation of predictors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C158A84-E089-6DFE-7014-09002D997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3012" y="1382821"/>
            <a:ext cx="6845584" cy="197269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0E3EECE-7B28-B05A-A8A6-3CC221BCC81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9670" b="5530"/>
          <a:stretch/>
        </p:blipFill>
        <p:spPr>
          <a:xfrm>
            <a:off x="85754" y="3616311"/>
            <a:ext cx="11946034" cy="264534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B45A9AC-B501-A8EA-AA4F-0F604F79C5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330" y="2179495"/>
            <a:ext cx="2522220" cy="1272540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A6E22CAD-C6CE-2B55-B815-D1C429014BF6}"/>
              </a:ext>
            </a:extLst>
          </p:cNvPr>
          <p:cNvGrpSpPr/>
          <p:nvPr/>
        </p:nvGrpSpPr>
        <p:grpSpPr>
          <a:xfrm>
            <a:off x="93358" y="6247157"/>
            <a:ext cx="8581479" cy="311166"/>
            <a:chOff x="93358" y="6247157"/>
            <a:chExt cx="8581479" cy="311166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F36CA061-F35E-BA59-9DAD-B28FBA1C6F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r="46930"/>
            <a:stretch/>
          </p:blipFill>
          <p:spPr>
            <a:xfrm>
              <a:off x="93358" y="6247157"/>
              <a:ext cx="5719116" cy="311166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BB798A74-4FEF-FAE4-C5AE-743B177C9C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73439"/>
            <a:stretch/>
          </p:blipFill>
          <p:spPr>
            <a:xfrm>
              <a:off x="5812474" y="6247157"/>
              <a:ext cx="2862363" cy="3111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95865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88F28-3FEA-9382-72F1-B56589D0A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AC932EE-06A0-3BE1-8D14-3F0DF18D5D42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08487E8-C703-2320-1123-17642FDA766D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BE878928-6A6B-7BE4-B902-0D8C5B093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8FF2218D-AE2E-1A5B-0AE5-8942A7666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38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99894F57-CE2A-1135-E2A1-F93960AF2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8B0E6683-3D5A-28E3-6290-14319E0FBAB2}"/>
              </a:ext>
            </a:extLst>
          </p:cNvPr>
          <p:cNvSpPr>
            <a:spLocks/>
          </p:cNvSpPr>
          <p:nvPr/>
        </p:nvSpPr>
        <p:spPr bwMode="auto">
          <a:xfrm>
            <a:off x="2155056" y="3527122"/>
            <a:ext cx="9876732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1.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xTB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descriptors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were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not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good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enough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(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low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variety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)</a:t>
            </a:r>
          </a:p>
          <a:p>
            <a:pPr marL="44978">
              <a:buSzPct val="77000"/>
            </a:pP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2.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Too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many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other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descriptors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with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hard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interpretation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(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ie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. RDKit)</a:t>
            </a:r>
          </a:p>
        </p:txBody>
      </p:sp>
      <p:pic>
        <p:nvPicPr>
          <p:cNvPr id="1032" name="Picture 8" descr="191,200+ Goals Icon Stock Illustrations, Royalty-Free Vector Graphics &amp;  Clip Art - iStock | Smart goals icon, Financial goals icon, Business goals  icon">
            <a:extLst>
              <a:ext uri="{FF2B5EF4-FFF2-40B4-BE49-F238E27FC236}">
                <a16:creationId xmlns:a16="http://schemas.microsoft.com/office/drawing/2014/main" id="{C60FB5B5-C088-2D19-FF9D-7F137B2AC4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22133" r="12100" b="21675"/>
          <a:stretch/>
        </p:blipFill>
        <p:spPr bwMode="auto">
          <a:xfrm>
            <a:off x="778451" y="1487562"/>
            <a:ext cx="891540" cy="774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Warning symbol Images - Free Download on Freepik">
            <a:extLst>
              <a:ext uri="{FF2B5EF4-FFF2-40B4-BE49-F238E27FC236}">
                <a16:creationId xmlns:a16="http://schemas.microsoft.com/office/drawing/2014/main" id="{A9D5D546-CD92-641F-AC2B-16040417C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534" y="3304415"/>
            <a:ext cx="746210" cy="74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2+ Hundred Uphill Struggle Icons Royalty-Free Images, Stock Photos &amp;  Pictures | Shutterstock">
            <a:extLst>
              <a:ext uri="{FF2B5EF4-FFF2-40B4-BE49-F238E27FC236}">
                <a16:creationId xmlns:a16="http://schemas.microsoft.com/office/drawing/2014/main" id="{068B3823-BB56-4EC0-5225-4B33615320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2" t="7829" r="2696" b="13829"/>
          <a:stretch/>
        </p:blipFill>
        <p:spPr bwMode="auto">
          <a:xfrm>
            <a:off x="776797" y="5115469"/>
            <a:ext cx="821691" cy="74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5">
            <a:extLst>
              <a:ext uri="{FF2B5EF4-FFF2-40B4-BE49-F238E27FC236}">
                <a16:creationId xmlns:a16="http://schemas.microsoft.com/office/drawing/2014/main" id="{B610B52C-A34E-D3B0-774F-D281B2F52CD9}"/>
              </a:ext>
            </a:extLst>
          </p:cNvPr>
          <p:cNvSpPr>
            <a:spLocks/>
          </p:cNvSpPr>
          <p:nvPr/>
        </p:nvSpPr>
        <p:spPr bwMode="auto">
          <a:xfrm>
            <a:off x="776797" y="2355456"/>
            <a:ext cx="902819" cy="373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 algn="ctr">
              <a:buSzPct val="77000"/>
            </a:pP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GOAL</a:t>
            </a:r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613BEE73-6AB7-FD15-EB8C-57492BCDD121}"/>
              </a:ext>
            </a:extLst>
          </p:cNvPr>
          <p:cNvSpPr>
            <a:spLocks/>
          </p:cNvSpPr>
          <p:nvPr/>
        </p:nvSpPr>
        <p:spPr bwMode="auto">
          <a:xfrm>
            <a:off x="367120" y="4202644"/>
            <a:ext cx="170306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 algn="ctr">
              <a:buSzPct val="77000"/>
            </a:pP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PROBLEMS</a:t>
            </a: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B4D5EE6C-4132-63FF-E4DF-4248E82971DB}"/>
              </a:ext>
            </a:extLst>
          </p:cNvPr>
          <p:cNvSpPr>
            <a:spLocks/>
          </p:cNvSpPr>
          <p:nvPr/>
        </p:nvSpPr>
        <p:spPr bwMode="auto">
          <a:xfrm>
            <a:off x="113048" y="6020018"/>
            <a:ext cx="21491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 algn="ctr">
              <a:buSzPct val="77000"/>
            </a:pP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UPHILL BATTLE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57329D55-9D76-B107-3479-1B8E91113A3B}"/>
              </a:ext>
            </a:extLst>
          </p:cNvPr>
          <p:cNvSpPr>
            <a:spLocks/>
          </p:cNvSpPr>
          <p:nvPr/>
        </p:nvSpPr>
        <p:spPr bwMode="auto">
          <a:xfrm>
            <a:off x="2419189" y="5536386"/>
            <a:ext cx="962422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u="sng" dirty="0">
                <a:latin typeface="Gill Sans" charset="0"/>
                <a:cs typeface="Gill Sans" charset="0"/>
                <a:sym typeface="Gill Sans" charset="0"/>
              </a:rPr>
              <a:t>Human </a:t>
            </a:r>
            <a:r>
              <a:rPr lang="es-ES" sz="2400" u="sng" dirty="0" err="1">
                <a:latin typeface="Gill Sans" charset="0"/>
                <a:cs typeface="Gill Sans" charset="0"/>
                <a:sym typeface="Gill Sans" charset="0"/>
              </a:rPr>
              <a:t>bias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: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xTB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isn’t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able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to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replace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DFT,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xTB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is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quite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bad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for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metals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, etc.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8795E8A-6C3C-E240-9D25-2213FD0DBBA6}"/>
              </a:ext>
            </a:extLst>
          </p:cNvPr>
          <p:cNvSpPr>
            <a:spLocks/>
          </p:cNvSpPr>
          <p:nvPr/>
        </p:nvSpPr>
        <p:spPr bwMode="auto">
          <a:xfrm>
            <a:off x="2155056" y="1790501"/>
            <a:ext cx="9606414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1.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Design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cost-efficient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workflows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to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promote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the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use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of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ML in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chemistry</a:t>
            </a:r>
            <a:endParaRPr lang="es-ES" sz="2400" dirty="0">
              <a:latin typeface="Gill Sans" charset="0"/>
              <a:cs typeface="Gill Sans" charset="0"/>
              <a:sym typeface="Gill Sans" charset="0"/>
            </a:endParaRPr>
          </a:p>
          <a:p>
            <a:pPr marL="44978">
              <a:buSzPct val="77000"/>
            </a:pP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2.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Avoid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HPC use (Gaussian, ORCA, etc.)</a:t>
            </a:r>
          </a:p>
        </p:txBody>
      </p:sp>
    </p:spTree>
    <p:extLst>
      <p:ext uri="{BB962C8B-B14F-4D97-AF65-F5344CB8AC3E}">
        <p14:creationId xmlns:p14="http://schemas.microsoft.com/office/powerpoint/2010/main" val="31878438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56131-59E5-D096-2828-4BB3EC5C9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277F8D-F2B0-3A04-87AF-2EFC0E5589F2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A460FFA1-F05D-7C67-763A-943BFC4E740E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2687A5EC-8C89-CD13-6871-8F2587CC6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57DF711-CD48-80F9-3365-7154B151B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39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0D3EB1D0-4A8C-78C6-B18F-E5FDF0F22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2CBB4D-F260-A564-4C30-31EA10287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0829" y="1058784"/>
            <a:ext cx="9530341" cy="562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4304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C2B98-02FD-EE2F-8290-FA689FDE3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7BCFE9-1F9E-860D-2D1D-97FF54599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829" y="1058784"/>
            <a:ext cx="9530341" cy="5620256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72F51D2-96A6-34C6-515B-D413C1931413}"/>
              </a:ext>
            </a:extLst>
          </p:cNvPr>
          <p:cNvSpPr/>
          <p:nvPr/>
        </p:nvSpPr>
        <p:spPr>
          <a:xfrm>
            <a:off x="954156" y="4308866"/>
            <a:ext cx="10207327" cy="237017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261605C-BBD7-80AD-C7FD-114A5C52D238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6FF53F99-EFB5-B632-ABC2-5B818F841E09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38B3F913-4A1E-921B-533E-0580B2456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B8DE032-19BF-0975-6922-871BDED3D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40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AA41F362-DB92-A101-0816-B88B4ED14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A6525DBB-B1EC-6D5C-53E2-575B9B9234C3}"/>
              </a:ext>
            </a:extLst>
          </p:cNvPr>
          <p:cNvSpPr>
            <a:spLocks/>
          </p:cNvSpPr>
          <p:nvPr/>
        </p:nvSpPr>
        <p:spPr bwMode="auto">
          <a:xfrm>
            <a:off x="1511303" y="4383685"/>
            <a:ext cx="5927770" cy="11079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387878" indent="-342900" algn="ctr">
              <a:buSzPct val="77000"/>
              <a:buFont typeface="Arial" panose="020B0604020202020204" pitchFamily="34" charset="0"/>
              <a:buChar char="•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xTB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isn’t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good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for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metals</a:t>
            </a:r>
            <a:endParaRPr lang="es-ES" sz="2400" b="1" dirty="0">
              <a:latin typeface="Gill Sans" charset="0"/>
              <a:cs typeface="Gill Sans" charset="0"/>
              <a:sym typeface="Gill Sans" charset="0"/>
            </a:endParaRPr>
          </a:p>
          <a:p>
            <a:pPr marL="387878" indent="-342900" algn="ctr">
              <a:buSzPct val="77000"/>
              <a:buFont typeface="Arial" panose="020B0604020202020204" pitchFamily="34" charset="0"/>
              <a:buChar char="•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xTB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doesn’t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work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in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low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-data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regimes</a:t>
            </a:r>
            <a:endParaRPr lang="es-ES" sz="2400" b="1" dirty="0">
              <a:latin typeface="Gill Sans" charset="0"/>
              <a:cs typeface="Gill Sans" charset="0"/>
              <a:sym typeface="Gill Sans" charset="0"/>
            </a:endParaRPr>
          </a:p>
          <a:p>
            <a:pPr marL="387878" indent="-342900" algn="ctr">
              <a:buSzPct val="77000"/>
              <a:buFont typeface="Arial" panose="020B0604020202020204" pitchFamily="34" charset="0"/>
              <a:buChar char="•"/>
            </a:pP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Further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challenge</a:t>
            </a:r>
            <a:endParaRPr lang="es-ES" sz="2400" b="1" dirty="0">
              <a:latin typeface="Gill Sans" charset="0"/>
              <a:cs typeface="Gill Sans" charset="0"/>
              <a:sym typeface="Gill Sans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18E9BA2-E3AE-5388-5E84-F70986B30C23}"/>
              </a:ext>
            </a:extLst>
          </p:cNvPr>
          <p:cNvCxnSpPr>
            <a:cxnSpLocks/>
          </p:cNvCxnSpPr>
          <p:nvPr/>
        </p:nvCxnSpPr>
        <p:spPr>
          <a:xfrm flipH="1">
            <a:off x="6265334" y="3547533"/>
            <a:ext cx="1752599" cy="8800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62C8C5C-01FF-75DB-F275-3D3DE0651A51}"/>
              </a:ext>
            </a:extLst>
          </p:cNvPr>
          <p:cNvCxnSpPr>
            <a:cxnSpLocks/>
          </p:cNvCxnSpPr>
          <p:nvPr/>
        </p:nvCxnSpPr>
        <p:spPr>
          <a:xfrm flipH="1">
            <a:off x="7052063" y="4101514"/>
            <a:ext cx="965870" cy="68099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ED1F782-C717-FA35-C6BA-0A755A3A1493}"/>
              </a:ext>
            </a:extLst>
          </p:cNvPr>
          <p:cNvCxnSpPr>
            <a:cxnSpLocks/>
          </p:cNvCxnSpPr>
          <p:nvPr/>
        </p:nvCxnSpPr>
        <p:spPr>
          <a:xfrm flipH="1">
            <a:off x="5839953" y="5315953"/>
            <a:ext cx="287811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05FF5F-6CA7-E159-3712-86191647AF24}"/>
              </a:ext>
            </a:extLst>
          </p:cNvPr>
          <p:cNvCxnSpPr>
            <a:cxnSpLocks/>
          </p:cNvCxnSpPr>
          <p:nvPr/>
        </p:nvCxnSpPr>
        <p:spPr>
          <a:xfrm>
            <a:off x="8718072" y="3901001"/>
            <a:ext cx="0" cy="1414952"/>
          </a:xfrm>
          <a:prstGeom prst="straightConnector1">
            <a:avLst/>
          </a:prstGeom>
          <a:ln w="28575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1756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17190-538A-9696-7C4D-6F92620ED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9608B7-BDF0-58AD-CA5C-1519AAAE6CCA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FE54DA74-3C0B-D763-6C7C-9E84A70E8D0F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1B4591E5-7A1C-D189-20B0-DD472DEF0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42DDE9F0-D7A0-CB3E-65BD-8035FED91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41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74AA3D9C-823F-9CC7-5A36-39E29BE26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CA835A-87B0-A179-6E73-81E4B8CCE7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52524"/>
          <a:stretch/>
        </p:blipFill>
        <p:spPr>
          <a:xfrm>
            <a:off x="987921" y="2352582"/>
            <a:ext cx="10216157" cy="3299907"/>
          </a:xfrm>
          <a:prstGeom prst="rect">
            <a:avLst/>
          </a:prstGeom>
        </p:spPr>
      </p:pic>
      <p:sp>
        <p:nvSpPr>
          <p:cNvPr id="14" name="Rectangle 5">
            <a:extLst>
              <a:ext uri="{FF2B5EF4-FFF2-40B4-BE49-F238E27FC236}">
                <a16:creationId xmlns:a16="http://schemas.microsoft.com/office/drawing/2014/main" id="{9123677C-D4B1-A8B0-4381-2536A5F67478}"/>
              </a:ext>
            </a:extLst>
          </p:cNvPr>
          <p:cNvSpPr>
            <a:spLocks/>
          </p:cNvSpPr>
          <p:nvPr/>
        </p:nvSpPr>
        <p:spPr bwMode="auto">
          <a:xfrm>
            <a:off x="399700" y="1514148"/>
            <a:ext cx="100737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>
              <a:buSzPct val="77000"/>
            </a:pP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Expert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survey</a:t>
            </a:r>
            <a:r>
              <a:rPr lang="es-ES" sz="2400" i="1" dirty="0">
                <a:latin typeface="Gill Sans" charset="0"/>
                <a:cs typeface="Gill Sans" charset="0"/>
                <a:sym typeface="Gill Sans" charset="0"/>
              </a:rPr>
              <a:t> (more </a:t>
            </a:r>
            <a:r>
              <a:rPr lang="es-ES" sz="2400" i="1" dirty="0" err="1">
                <a:latin typeface="Gill Sans" charset="0"/>
                <a:cs typeface="Gill Sans" charset="0"/>
                <a:sym typeface="Gill Sans" charset="0"/>
              </a:rPr>
              <a:t>than</a:t>
            </a:r>
            <a:r>
              <a:rPr lang="es-ES" sz="2400" i="1" dirty="0">
                <a:latin typeface="Gill Sans" charset="0"/>
                <a:cs typeface="Gill Sans" charset="0"/>
                <a:sym typeface="Gill Sans" charset="0"/>
              </a:rPr>
              <a:t> 15 </a:t>
            </a:r>
            <a:r>
              <a:rPr lang="es-ES" sz="2400" i="1" dirty="0" err="1">
                <a:latin typeface="Gill Sans" charset="0"/>
                <a:cs typeface="Gill Sans" charset="0"/>
                <a:sym typeface="Gill Sans" charset="0"/>
              </a:rPr>
              <a:t>institutions</a:t>
            </a:r>
            <a:r>
              <a:rPr lang="es-ES" sz="2400" i="1" dirty="0">
                <a:latin typeface="Gill Sans" charset="0"/>
                <a:cs typeface="Gill Sans" charset="0"/>
                <a:sym typeface="Gill Sans" charset="0"/>
              </a:rPr>
              <a:t> / </a:t>
            </a:r>
            <a:r>
              <a:rPr lang="es-ES" sz="2400" i="1" dirty="0" err="1">
                <a:latin typeface="Gill Sans" charset="0"/>
                <a:cs typeface="Gill Sans" charset="0"/>
                <a:sym typeface="Gill Sans" charset="0"/>
              </a:rPr>
              <a:t>countries</a:t>
            </a:r>
            <a:r>
              <a:rPr lang="es-ES" sz="2400" i="1" dirty="0">
                <a:latin typeface="Gill Sans" charset="0"/>
                <a:cs typeface="Gill Sans" charset="0"/>
                <a:sym typeface="Gill Sans" charset="0"/>
              </a:rPr>
              <a:t>!)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64EA0B-25F6-2A0E-02C9-427B7414E047}"/>
              </a:ext>
            </a:extLst>
          </p:cNvPr>
          <p:cNvSpPr txBox="1"/>
          <p:nvPr/>
        </p:nvSpPr>
        <p:spPr>
          <a:xfrm>
            <a:off x="5774712" y="3442479"/>
            <a:ext cx="470000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50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85C1E0-CD09-CE41-74EC-A9F87807FF52}"/>
              </a:ext>
            </a:extLst>
          </p:cNvPr>
          <p:cNvSpPr txBox="1"/>
          <p:nvPr/>
        </p:nvSpPr>
        <p:spPr>
          <a:xfrm>
            <a:off x="-15239" y="6274158"/>
            <a:ext cx="28309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US" sz="1600" i="1" kern="1050" dirty="0"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ACS </a:t>
            </a:r>
            <a:r>
              <a:rPr lang="en-US" sz="1600" i="1" kern="1050" dirty="0" err="1"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Catal</a:t>
            </a:r>
            <a:r>
              <a:rPr lang="en-US" sz="1600" i="1" kern="1050" dirty="0"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b="1" kern="1050" dirty="0"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r>
              <a:rPr lang="en-US" sz="1600" kern="1050" dirty="0"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i="1" kern="1050" dirty="0"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sz="1600" kern="1050" dirty="0"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, 1</a:t>
            </a:r>
          </a:p>
        </p:txBody>
      </p:sp>
    </p:spTree>
    <p:extLst>
      <p:ext uri="{BB962C8B-B14F-4D97-AF65-F5344CB8AC3E}">
        <p14:creationId xmlns:p14="http://schemas.microsoft.com/office/powerpoint/2010/main" val="13431345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58E04-85FC-E1E4-9DFC-70F053085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75FCCF3-00AC-3ED3-4A7C-83B33A681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726" y="1777631"/>
            <a:ext cx="5596128" cy="4395384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1F3EABF-33FF-01D9-0C8C-5170F8C389C7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1D909D1B-19DF-5F4A-3365-2BD65C0592EE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C129B408-D1CF-F294-8B1A-DCB9D4299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D7133792-8A45-AC94-62EF-ACAE2B183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42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C5B5A232-CB60-B537-C5DA-25E898649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5067397-D4A9-36AB-B358-1DC4F29EA0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07" b="50000"/>
          <a:stretch/>
        </p:blipFill>
        <p:spPr>
          <a:xfrm>
            <a:off x="399700" y="1708865"/>
            <a:ext cx="5486576" cy="446310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833CAC6-9CBF-5FE2-75CA-03FBBE0A3B27}"/>
              </a:ext>
            </a:extLst>
          </p:cNvPr>
          <p:cNvSpPr/>
          <p:nvPr/>
        </p:nvSpPr>
        <p:spPr>
          <a:xfrm>
            <a:off x="6096000" y="1500189"/>
            <a:ext cx="5729692" cy="401092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611FA2-727E-4B19-7B73-D0F1FAC34D3E}"/>
              </a:ext>
            </a:extLst>
          </p:cNvPr>
          <p:cNvSpPr/>
          <p:nvPr/>
        </p:nvSpPr>
        <p:spPr>
          <a:xfrm>
            <a:off x="156584" y="3731745"/>
            <a:ext cx="5729692" cy="264254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0BFA1E-A4FE-FE7F-70A8-2BF53CEA39E4}"/>
              </a:ext>
            </a:extLst>
          </p:cNvPr>
          <p:cNvSpPr txBox="1"/>
          <p:nvPr/>
        </p:nvSpPr>
        <p:spPr>
          <a:xfrm>
            <a:off x="-15239" y="6274158"/>
            <a:ext cx="28309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US" sz="1600" i="1" kern="1050" dirty="0"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ACS </a:t>
            </a:r>
            <a:r>
              <a:rPr lang="en-US" sz="1600" i="1" kern="1050" dirty="0" err="1"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Catal</a:t>
            </a:r>
            <a:r>
              <a:rPr lang="en-US" sz="1600" i="1" kern="1050" dirty="0"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b="1" kern="1050" dirty="0"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r>
              <a:rPr lang="en-US" sz="1600" kern="1050" dirty="0"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i="1" kern="1050" dirty="0"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sz="1600" kern="1050" dirty="0"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, 1</a:t>
            </a:r>
          </a:p>
        </p:txBody>
      </p:sp>
    </p:spTree>
    <p:extLst>
      <p:ext uri="{BB962C8B-B14F-4D97-AF65-F5344CB8AC3E}">
        <p14:creationId xmlns:p14="http://schemas.microsoft.com/office/powerpoint/2010/main" val="11556890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19737-DBB7-8261-5FD9-507A98826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F9BFF5B-65AB-5DC6-C3E8-AEA7CFA80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726" y="1777631"/>
            <a:ext cx="5596128" cy="4395384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681A794-FFD3-A4B8-F501-24D3305D0A17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23C93814-844A-2F1D-DC8F-F3DCED77AA9E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D5AB26E3-33A1-8F40-BCDD-B615B7D72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857FC09-7330-1869-7535-1AD9AC438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43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45196D72-199D-1E88-89A4-A2370A4F8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26349AB-3CAB-270B-656F-8CE13767CFA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07" b="50000"/>
          <a:stretch/>
        </p:blipFill>
        <p:spPr>
          <a:xfrm>
            <a:off x="399700" y="1708865"/>
            <a:ext cx="5486576" cy="446310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86FC566-D8E2-ECD2-3B7B-81E19AE42A56}"/>
              </a:ext>
            </a:extLst>
          </p:cNvPr>
          <p:cNvSpPr/>
          <p:nvPr/>
        </p:nvSpPr>
        <p:spPr>
          <a:xfrm>
            <a:off x="6096000" y="1500189"/>
            <a:ext cx="5729692" cy="401092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63B482-2036-9AD8-BB38-F9D21D55A133}"/>
              </a:ext>
            </a:extLst>
          </p:cNvPr>
          <p:cNvSpPr txBox="1"/>
          <p:nvPr/>
        </p:nvSpPr>
        <p:spPr>
          <a:xfrm>
            <a:off x="-15239" y="6274158"/>
            <a:ext cx="28309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US" sz="1600" i="1" kern="1050" dirty="0"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ACS </a:t>
            </a:r>
            <a:r>
              <a:rPr lang="en-US" sz="1600" i="1" kern="1050" dirty="0" err="1"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Catal</a:t>
            </a:r>
            <a:r>
              <a:rPr lang="en-US" sz="1600" i="1" kern="1050" dirty="0"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b="1" kern="1050" dirty="0"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r>
              <a:rPr lang="en-US" sz="1600" kern="1050" dirty="0"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i="1" kern="1050" dirty="0"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sz="1600" kern="1050" dirty="0"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, 1</a:t>
            </a:r>
          </a:p>
        </p:txBody>
      </p:sp>
    </p:spTree>
    <p:extLst>
      <p:ext uri="{BB962C8B-B14F-4D97-AF65-F5344CB8AC3E}">
        <p14:creationId xmlns:p14="http://schemas.microsoft.com/office/powerpoint/2010/main" val="9716766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472A2-35FB-DCF5-43E6-8392829A8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912B0B-3EE8-1106-1105-E0BC8900DB61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ED1CB05B-BDC9-8A7F-5DB6-29FC7E3415D4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801BC5B5-2B80-E796-4313-57507F8A0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8C66053-D31B-D9D7-9335-68A30F125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44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52664101-02B5-42FB-7FD6-9AAD19ACE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D92FC1C-7B5A-28C0-E38F-27E7618E7D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07" b="50000"/>
          <a:stretch/>
        </p:blipFill>
        <p:spPr>
          <a:xfrm>
            <a:off x="399700" y="1708865"/>
            <a:ext cx="5486576" cy="446310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1B426AA-09D1-DCE1-BAAE-CC10921A0E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5726" y="1777631"/>
            <a:ext cx="5596128" cy="43953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378267-104B-C626-D2E0-4D995502D40E}"/>
              </a:ext>
            </a:extLst>
          </p:cNvPr>
          <p:cNvSpPr txBox="1"/>
          <p:nvPr/>
        </p:nvSpPr>
        <p:spPr>
          <a:xfrm>
            <a:off x="-15239" y="6274158"/>
            <a:ext cx="28309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US" sz="1600" i="1" kern="1050" dirty="0"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ACS </a:t>
            </a:r>
            <a:r>
              <a:rPr lang="en-US" sz="1600" i="1" kern="1050" dirty="0" err="1"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Catal</a:t>
            </a:r>
            <a:r>
              <a:rPr lang="en-US" sz="1600" i="1" kern="1050" dirty="0"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b="1" kern="1050" dirty="0"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r>
              <a:rPr lang="en-US" sz="1600" kern="1050" dirty="0"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i="1" kern="1050" dirty="0"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sz="1600" kern="1050" dirty="0">
                <a:latin typeface="Gill Sans"/>
                <a:ea typeface="Times New Roman" panose="02020603050405020304" pitchFamily="18" charset="0"/>
                <a:cs typeface="Times New Roman" panose="02020603050405020304" pitchFamily="18" charset="0"/>
              </a:rPr>
              <a:t>, 1</a:t>
            </a:r>
          </a:p>
        </p:txBody>
      </p:sp>
    </p:spTree>
    <p:extLst>
      <p:ext uri="{BB962C8B-B14F-4D97-AF65-F5344CB8AC3E}">
        <p14:creationId xmlns:p14="http://schemas.microsoft.com/office/powerpoint/2010/main" val="36105290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DC5D2-C43B-ED8D-9EB6-7B77E6EBA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2E48C4-150E-B123-B948-7F3DBF3C3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726" y="1777631"/>
            <a:ext cx="5596128" cy="4395384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E4118D-97E3-6BEE-35CA-07C61656C10D}"/>
              </a:ext>
            </a:extLst>
          </p:cNvPr>
          <p:cNvCxnSpPr>
            <a:cxnSpLocks/>
          </p:cNvCxnSpPr>
          <p:nvPr/>
        </p:nvCxnSpPr>
        <p:spPr>
          <a:xfrm>
            <a:off x="399700" y="894492"/>
            <a:ext cx="1136177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542DBA90-0AEE-991D-E0DB-CA50DDBCC402}"/>
              </a:ext>
            </a:extLst>
          </p:cNvPr>
          <p:cNvSpPr txBox="1">
            <a:spLocks/>
          </p:cNvSpPr>
          <p:nvPr/>
        </p:nvSpPr>
        <p:spPr>
          <a:xfrm>
            <a:off x="284498" y="83955"/>
            <a:ext cx="11616350" cy="738664"/>
          </a:xfrm>
          <a:prstGeom prst="rect">
            <a:avLst/>
          </a:prstGeom>
        </p:spPr>
        <p:txBody>
          <a:bodyPr vert="horz" wrap="square" lIns="91440" tIns="91440" rIns="91440" bIns="91440" rtlCol="0" anchor="b" anchorCtr="0">
            <a:spAutoFit/>
          </a:bodyPr>
          <a:lstStyle>
            <a:lvl1pPr algn="l" defTabSz="699614" rtl="0" eaLnBrk="1" latinLnBrk="0" hangingPunct="1">
              <a:spcBef>
                <a:spcPct val="0"/>
              </a:spcBef>
              <a:buNone/>
              <a:defRPr sz="5400" b="0" i="0" kern="1200">
                <a:solidFill>
                  <a:schemeClr val="tx2"/>
                </a:solidFill>
                <a:latin typeface="Vitesse Light" charset="0"/>
                <a:ea typeface="Vitesse Light" charset="0"/>
                <a:cs typeface="Vitesse Light" charset="0"/>
              </a:defRPr>
            </a:lvl1pPr>
          </a:lstStyle>
          <a:p>
            <a:r>
              <a:rPr lang="es-ES" sz="3600" dirty="0"/>
              <a:t>AQME: descriptor </a:t>
            </a:r>
            <a:r>
              <a:rPr lang="es-ES" sz="3600" dirty="0" err="1"/>
              <a:t>generation</a:t>
            </a:r>
            <a:endParaRPr lang="en-US" sz="3600" dirty="0"/>
          </a:p>
        </p:txBody>
      </p:sp>
      <p:pic>
        <p:nvPicPr>
          <p:cNvPr id="6" name="Picture 5" descr="A picture containing arrow&#10;&#10;Description automatically generated">
            <a:extLst>
              <a:ext uri="{FF2B5EF4-FFF2-40B4-BE49-F238E27FC236}">
                <a16:creationId xmlns:a16="http://schemas.microsoft.com/office/drawing/2014/main" id="{19AFAEAC-3979-081F-AD02-15865E47C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7654" y="13477"/>
            <a:ext cx="1244134" cy="830042"/>
          </a:xfrm>
          <a:prstGeom prst="rect">
            <a:avLst/>
          </a:prstGeom>
        </p:spPr>
      </p:pic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38C7E2FD-2CF4-6A08-E67A-A75E06EEB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61486" y="6443435"/>
            <a:ext cx="783217" cy="338554"/>
          </a:xfrm>
        </p:spPr>
        <p:txBody>
          <a:bodyPr/>
          <a:lstStyle/>
          <a:p>
            <a:fld id="{09A062AA-2C6C-4571-9892-9B3657580B26}" type="slidenum">
              <a:rPr lang="en-US" sz="1400" smtClean="0"/>
              <a:t>45</a:t>
            </a:fld>
            <a:endParaRPr lang="en-US" sz="1400"/>
          </a:p>
        </p:txBody>
      </p:sp>
      <p:pic>
        <p:nvPicPr>
          <p:cNvPr id="9" name="Picture 8" descr="IUI Mixto de Síntesis Química y Catálisis Homogenea (ISQCH) | Universidad  de Zaragoza">
            <a:extLst>
              <a:ext uri="{FF2B5EF4-FFF2-40B4-BE49-F238E27FC236}">
                <a16:creationId xmlns:a16="http://schemas.microsoft.com/office/drawing/2014/main" id="{758BBFFD-97B2-88DD-8E9F-61115E867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2035" y="178961"/>
            <a:ext cx="1744679" cy="589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4A9670A-993B-6AF7-2D2A-70E10105090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307" b="50000"/>
          <a:stretch/>
        </p:blipFill>
        <p:spPr>
          <a:xfrm>
            <a:off x="399700" y="1708865"/>
            <a:ext cx="5486576" cy="446310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BF02EC6-34C9-3D7E-8180-00D991CFA431}"/>
              </a:ext>
            </a:extLst>
          </p:cNvPr>
          <p:cNvSpPr/>
          <p:nvPr/>
        </p:nvSpPr>
        <p:spPr>
          <a:xfrm>
            <a:off x="284498" y="1500188"/>
            <a:ext cx="11541194" cy="486774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ABD6E738-CB74-1700-21D0-E0C0EA4EBA95}"/>
              </a:ext>
            </a:extLst>
          </p:cNvPr>
          <p:cNvSpPr>
            <a:spLocks/>
          </p:cNvSpPr>
          <p:nvPr/>
        </p:nvSpPr>
        <p:spPr bwMode="auto">
          <a:xfrm>
            <a:off x="1500188" y="3429000"/>
            <a:ext cx="9156526" cy="73866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65506" bIns="0">
            <a:spAutoFit/>
          </a:bodyPr>
          <a:lstStyle/>
          <a:p>
            <a:pPr marL="44978" algn="ctr">
              <a:buSzPct val="77000"/>
            </a:pP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When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compared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blindly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,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experts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on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the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field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consider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xTB-based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ML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models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to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be 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similar 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to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DFT-</a:t>
            </a:r>
            <a:r>
              <a:rPr lang="es-ES" sz="2400" b="1" dirty="0" err="1">
                <a:latin typeface="Gill Sans" charset="0"/>
                <a:cs typeface="Gill Sans" charset="0"/>
                <a:sym typeface="Gill Sans" charset="0"/>
              </a:rPr>
              <a:t>based</a:t>
            </a:r>
            <a:r>
              <a:rPr lang="es-ES" sz="2400" b="1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publication-quality</a:t>
            </a:r>
            <a:r>
              <a:rPr lang="es-ES" sz="2400" dirty="0">
                <a:latin typeface="Gill Sans" charset="0"/>
                <a:cs typeface="Gill Sans" charset="0"/>
                <a:sym typeface="Gill Sans" charset="0"/>
              </a:rPr>
              <a:t> </a:t>
            </a:r>
            <a:r>
              <a:rPr lang="es-ES" sz="2400" dirty="0" err="1">
                <a:latin typeface="Gill Sans" charset="0"/>
                <a:cs typeface="Gill Sans" charset="0"/>
                <a:sym typeface="Gill Sans" charset="0"/>
              </a:rPr>
              <a:t>models</a:t>
            </a:r>
            <a:endParaRPr lang="es-ES" sz="2400" dirty="0">
              <a:latin typeface="Gill Sans" charset="0"/>
              <a:cs typeface="Gill Sans" charset="0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0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3147</TotalTime>
  <Words>2012</Words>
  <Application>Microsoft Office PowerPoint</Application>
  <PresentationFormat>Widescreen</PresentationFormat>
  <Paragraphs>340</Paragraphs>
  <Slides>45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4" baseType="lpstr">
      <vt:lpstr>Arial</vt:lpstr>
      <vt:lpstr>Calibri</vt:lpstr>
      <vt:lpstr>Calibri Light</vt:lpstr>
      <vt:lpstr>Gill Sans</vt:lpstr>
      <vt:lpstr>Proxima Nova</vt:lpstr>
      <vt:lpstr>Times New Roman</vt:lpstr>
      <vt:lpstr>Wingdings</vt:lpstr>
      <vt:lpstr>Office Theme</vt:lpstr>
      <vt:lpstr>CS ChemDraw Drawing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jvalegre</dc:creator>
  <cp:lastModifiedBy>Juan Vicente Alegre Requena</cp:lastModifiedBy>
  <cp:revision>966</cp:revision>
  <dcterms:created xsi:type="dcterms:W3CDTF">2023-06-21T09:49:49Z</dcterms:created>
  <dcterms:modified xsi:type="dcterms:W3CDTF">2026-09-01T14:41:06Z</dcterms:modified>
</cp:coreProperties>
</file>